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48" r:id="rId1"/>
  </p:sldMasterIdLst>
  <p:notesMasterIdLst>
    <p:notesMasterId r:id="rId4"/>
  </p:notesMasterIdLst>
  <p:sldIdLst>
    <p:sldId id="284" r:id="rId3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6D5"/>
    <a:srgbClr val="F7D7D4"/>
    <a:srgbClr val="2B40DA"/>
    <a:srgbClr val="0000FF"/>
    <a:srgbClr val="FB0307"/>
    <a:srgbClr val="FF0201"/>
    <a:srgbClr val="67A8DF"/>
    <a:srgbClr val="644488"/>
    <a:srgbClr val="F47898"/>
    <a:srgbClr val="F49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62"/>
    <p:restoredTop sz="96276"/>
  </p:normalViewPr>
  <p:slideViewPr>
    <p:cSldViewPr snapToGrid="0" snapToObjects="1">
      <p:cViewPr>
        <p:scale>
          <a:sx n="33" d="100"/>
          <a:sy n="33" d="100"/>
        </p:scale>
        <p:origin x="1917" y="-22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159" d="100"/>
          <a:sy n="159" d="100"/>
        </p:scale>
        <p:origin x="4592" y="-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7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7" Type="http://schemas.openxmlformats.org/officeDocument/2006/relationships/image" Target="../media/image52.wmf"/><Relationship Id="rId16" Type="http://schemas.openxmlformats.org/officeDocument/2006/relationships/image" Target="../media/image51.wmf"/><Relationship Id="rId15" Type="http://schemas.openxmlformats.org/officeDocument/2006/relationships/image" Target="../media/image50.wmf"/><Relationship Id="rId14" Type="http://schemas.openxmlformats.org/officeDocument/2006/relationships/image" Target="../media/image49.wmf"/><Relationship Id="rId13" Type="http://schemas.openxmlformats.org/officeDocument/2006/relationships/image" Target="../media/image48.wmf"/><Relationship Id="rId12" Type="http://schemas.openxmlformats.org/officeDocument/2006/relationships/image" Target="../media/image47.wmf"/><Relationship Id="rId11" Type="http://schemas.openxmlformats.org/officeDocument/2006/relationships/image" Target="../media/image46.wmf"/><Relationship Id="rId10" Type="http://schemas.openxmlformats.org/officeDocument/2006/relationships/image" Target="../media/image44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628A3-93CB-2E46-B7B8-2C971C71B57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75020-D305-E444-8787-4C91484CB3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3686810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1pPr>
    <a:lvl2pPr marL="1843405" algn="l" defTabSz="3686810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2pPr>
    <a:lvl3pPr marL="3686810" algn="l" defTabSz="3686810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3pPr>
    <a:lvl4pPr marL="5530215" algn="l" defTabSz="3686810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4pPr>
    <a:lvl5pPr marL="7373620" algn="l" defTabSz="3686810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5pPr>
    <a:lvl6pPr marL="9217025" algn="l" defTabSz="3686810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6pPr>
    <a:lvl7pPr marL="11060430" algn="l" defTabSz="3686810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7pPr>
    <a:lvl8pPr marL="12903835" algn="l" defTabSz="3686810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8pPr>
    <a:lvl9pPr marL="14747240" algn="l" defTabSz="3686810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75020-D305-E444-8787-4C91484CB39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30F66-BBDB-8F46-ACD9-E400D5FC56D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57329-A6BC-5A44-A124-5976B52A6A4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9369-E16E-364E-83AF-5C29C69E4B3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5A92-C55A-1C4E-96DA-F2DEAF2A63F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6859C-C7F3-904E-BBAF-79AE862477DA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10DE8-C316-EE47-B545-FB691470082E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4D8-06AA-2D44-BB5F-1AEEA362BA82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53EF-9B8D-694A-B534-3ACD53F1AFE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E3E3-29BD-3649-9A8B-D613B806854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7E2E-14B1-A44D-A86C-96BF517505C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A595C-ABA4-E24A-B499-30E00E6DA74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250C7-1398-B84B-A3C0-F26E144BCFD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372A0-78ED-E749-BCC2-5B1A8C6606A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250C7-1398-B84B-A3C0-F26E144BCFD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image" Target="../media/image7.emf"/><Relationship Id="rId77" Type="http://schemas.openxmlformats.org/officeDocument/2006/relationships/notesSlide" Target="../notesSlides/notesSlide1.xml"/><Relationship Id="rId76" Type="http://schemas.openxmlformats.org/officeDocument/2006/relationships/vmlDrawing" Target="../drawings/vmlDrawing1.vml"/><Relationship Id="rId75" Type="http://schemas.openxmlformats.org/officeDocument/2006/relationships/slideLayout" Target="../slideLayouts/slideLayout2.xml"/><Relationship Id="rId74" Type="http://schemas.openxmlformats.org/officeDocument/2006/relationships/image" Target="../media/image57.png"/><Relationship Id="rId73" Type="http://schemas.openxmlformats.org/officeDocument/2006/relationships/image" Target="../media/image56.png"/><Relationship Id="rId72" Type="http://schemas.openxmlformats.org/officeDocument/2006/relationships/image" Target="../media/image55.png"/><Relationship Id="rId71" Type="http://schemas.openxmlformats.org/officeDocument/2006/relationships/image" Target="../media/image54.png"/><Relationship Id="rId70" Type="http://schemas.openxmlformats.org/officeDocument/2006/relationships/image" Target="../media/image53.jpeg"/><Relationship Id="rId7" Type="http://schemas.openxmlformats.org/officeDocument/2006/relationships/image" Target="../media/image6.emf"/><Relationship Id="rId69" Type="http://schemas.openxmlformats.org/officeDocument/2006/relationships/image" Target="../media/image52.wmf"/><Relationship Id="rId68" Type="http://schemas.openxmlformats.org/officeDocument/2006/relationships/oleObject" Target="../embeddings/oleObject17.bin"/><Relationship Id="rId67" Type="http://schemas.openxmlformats.org/officeDocument/2006/relationships/image" Target="../media/image51.wmf"/><Relationship Id="rId66" Type="http://schemas.openxmlformats.org/officeDocument/2006/relationships/oleObject" Target="../embeddings/oleObject16.bin"/><Relationship Id="rId65" Type="http://schemas.openxmlformats.org/officeDocument/2006/relationships/image" Target="../media/image50.wmf"/><Relationship Id="rId64" Type="http://schemas.openxmlformats.org/officeDocument/2006/relationships/oleObject" Target="../embeddings/oleObject15.bin"/><Relationship Id="rId63" Type="http://schemas.openxmlformats.org/officeDocument/2006/relationships/image" Target="../media/image49.wmf"/><Relationship Id="rId62" Type="http://schemas.openxmlformats.org/officeDocument/2006/relationships/oleObject" Target="../embeddings/oleObject14.bin"/><Relationship Id="rId61" Type="http://schemas.openxmlformats.org/officeDocument/2006/relationships/image" Target="../media/image48.wmf"/><Relationship Id="rId60" Type="http://schemas.openxmlformats.org/officeDocument/2006/relationships/oleObject" Target="../embeddings/oleObject13.bin"/><Relationship Id="rId6" Type="http://schemas.openxmlformats.org/officeDocument/2006/relationships/image" Target="../media/image5.jpeg"/><Relationship Id="rId59" Type="http://schemas.openxmlformats.org/officeDocument/2006/relationships/image" Target="../media/image47.wmf"/><Relationship Id="rId58" Type="http://schemas.openxmlformats.org/officeDocument/2006/relationships/oleObject" Target="../embeddings/oleObject12.bin"/><Relationship Id="rId57" Type="http://schemas.openxmlformats.org/officeDocument/2006/relationships/image" Target="../media/image46.wmf"/><Relationship Id="rId56" Type="http://schemas.openxmlformats.org/officeDocument/2006/relationships/oleObject" Target="../embeddings/oleObject11.bin"/><Relationship Id="rId55" Type="http://schemas.openxmlformats.org/officeDocument/2006/relationships/image" Target="../media/image45.png"/><Relationship Id="rId54" Type="http://schemas.openxmlformats.org/officeDocument/2006/relationships/image" Target="../media/image44.wmf"/><Relationship Id="rId53" Type="http://schemas.openxmlformats.org/officeDocument/2006/relationships/oleObject" Target="../embeddings/oleObject10.bin"/><Relationship Id="rId52" Type="http://schemas.openxmlformats.org/officeDocument/2006/relationships/image" Target="../media/image43.wmf"/><Relationship Id="rId51" Type="http://schemas.openxmlformats.org/officeDocument/2006/relationships/oleObject" Target="../embeddings/oleObject9.bin"/><Relationship Id="rId50" Type="http://schemas.openxmlformats.org/officeDocument/2006/relationships/image" Target="../media/image42.png"/><Relationship Id="rId5" Type="http://schemas.openxmlformats.org/officeDocument/2006/relationships/image" Target="../media/image4.png"/><Relationship Id="rId49" Type="http://schemas.openxmlformats.org/officeDocument/2006/relationships/image" Target="../media/image41.wmf"/><Relationship Id="rId48" Type="http://schemas.openxmlformats.org/officeDocument/2006/relationships/oleObject" Target="../embeddings/oleObject8.bin"/><Relationship Id="rId47" Type="http://schemas.openxmlformats.org/officeDocument/2006/relationships/image" Target="../media/image40.wmf"/><Relationship Id="rId46" Type="http://schemas.openxmlformats.org/officeDocument/2006/relationships/oleObject" Target="../embeddings/oleObject7.bin"/><Relationship Id="rId45" Type="http://schemas.openxmlformats.org/officeDocument/2006/relationships/image" Target="../media/image39.wmf"/><Relationship Id="rId44" Type="http://schemas.openxmlformats.org/officeDocument/2006/relationships/oleObject" Target="../embeddings/oleObject6.bin"/><Relationship Id="rId43" Type="http://schemas.openxmlformats.org/officeDocument/2006/relationships/image" Target="../media/image38.png"/><Relationship Id="rId42" Type="http://schemas.openxmlformats.org/officeDocument/2006/relationships/image" Target="../media/image37.wmf"/><Relationship Id="rId41" Type="http://schemas.openxmlformats.org/officeDocument/2006/relationships/oleObject" Target="../embeddings/oleObject5.bin"/><Relationship Id="rId40" Type="http://schemas.openxmlformats.org/officeDocument/2006/relationships/image" Target="../media/image36.png"/><Relationship Id="rId4" Type="http://schemas.openxmlformats.org/officeDocument/2006/relationships/image" Target="../media/image3.png"/><Relationship Id="rId39" Type="http://schemas.openxmlformats.org/officeDocument/2006/relationships/image" Target="../media/image35.wmf"/><Relationship Id="rId38" Type="http://schemas.openxmlformats.org/officeDocument/2006/relationships/oleObject" Target="../embeddings/oleObject4.bin"/><Relationship Id="rId37" Type="http://schemas.openxmlformats.org/officeDocument/2006/relationships/image" Target="../media/image34.wmf"/><Relationship Id="rId36" Type="http://schemas.openxmlformats.org/officeDocument/2006/relationships/oleObject" Target="../embeddings/oleObject3.bin"/><Relationship Id="rId35" Type="http://schemas.openxmlformats.org/officeDocument/2006/relationships/image" Target="../media/image33.wmf"/><Relationship Id="rId34" Type="http://schemas.openxmlformats.org/officeDocument/2006/relationships/oleObject" Target="../embeddings/oleObject2.bin"/><Relationship Id="rId33" Type="http://schemas.openxmlformats.org/officeDocument/2006/relationships/image" Target="../media/image32.png"/><Relationship Id="rId32" Type="http://schemas.openxmlformats.org/officeDocument/2006/relationships/image" Target="../media/image31.png"/><Relationship Id="rId31" Type="http://schemas.openxmlformats.org/officeDocument/2006/relationships/image" Target="../media/image30.png"/><Relationship Id="rId30" Type="http://schemas.openxmlformats.org/officeDocument/2006/relationships/image" Target="../media/image29.png"/><Relationship Id="rId3" Type="http://schemas.openxmlformats.org/officeDocument/2006/relationships/image" Target="../media/image2.png"/><Relationship Id="rId29" Type="http://schemas.openxmlformats.org/officeDocument/2006/relationships/image" Target="../media/image28.png"/><Relationship Id="rId28" Type="http://schemas.openxmlformats.org/officeDocument/2006/relationships/image" Target="../media/image27.png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1.w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对象 94"/>
          <p:cNvGraphicFramePr>
            <a:graphicFrameLocks noChangeAspect="1"/>
          </p:cNvGraphicFramePr>
          <p:nvPr/>
        </p:nvGraphicFramePr>
        <p:xfrm>
          <a:off x="16687800" y="18579465"/>
          <a:ext cx="14892655" cy="221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" name="AxMath" r:id="rId1" imgW="3700780" imgH="551180" progId="Equation.AxMath">
                  <p:embed/>
                </p:oleObj>
              </mc:Choice>
              <mc:Fallback>
                <p:oleObj name="AxMath" r:id="rId1" imgW="3700780" imgH="551180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687800" y="18579465"/>
                        <a:ext cx="14892655" cy="2211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4" name="图片 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9245" y="11965305"/>
            <a:ext cx="15875635" cy="3394710"/>
          </a:xfrm>
          <a:prstGeom prst="rect">
            <a:avLst/>
          </a:prstGeom>
        </p:spPr>
      </p:pic>
      <p:sp>
        <p:nvSpPr>
          <p:cNvPr id="55" name="TextBox 35"/>
          <p:cNvSpPr txBox="1"/>
          <p:nvPr/>
        </p:nvSpPr>
        <p:spPr>
          <a:xfrm>
            <a:off x="1772031" y="260595"/>
            <a:ext cx="29220879" cy="2306955"/>
          </a:xfrm>
          <a:prstGeom prst="rect">
            <a:avLst/>
          </a:prstGeom>
          <a:ln w="12700">
            <a:miter lim="400000"/>
          </a:ln>
        </p:spPr>
        <p:txBody>
          <a:bodyPr wrap="square" lIns="60959" rIns="60959">
            <a:spAutoFit/>
          </a:bodyPr>
          <a:lstStyle>
            <a:lvl1pPr>
              <a:defRPr sz="5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ctr"/>
            <a:r>
              <a:rPr lang="en-US" altLang="zh-CN" sz="7200" b="1" dirty="0">
                <a:solidFill>
                  <a:srgbClr val="C00000"/>
                </a:solidFill>
              </a:rPr>
              <a:t>Robust Constrained Offline Reinforcement Learning</a:t>
            </a:r>
            <a:endParaRPr lang="en-US" altLang="zh-CN" sz="7200" b="1" dirty="0">
              <a:solidFill>
                <a:srgbClr val="C00000"/>
              </a:solidFill>
            </a:endParaRPr>
          </a:p>
          <a:p>
            <a:pPr algn="ctr"/>
            <a:r>
              <a:rPr lang="en-US" altLang="zh-CN" sz="7200" b="1" dirty="0">
                <a:solidFill>
                  <a:srgbClr val="C00000"/>
                </a:solidFill>
              </a:rPr>
              <a:t>with Linear Function Approximation</a:t>
            </a:r>
            <a:endParaRPr lang="en-US" altLang="zh-CN" sz="7200" b="1" dirty="0">
              <a:solidFill>
                <a:srgbClr val="C00000"/>
              </a:solidFill>
            </a:endParaRPr>
          </a:p>
        </p:txBody>
      </p:sp>
      <p:sp>
        <p:nvSpPr>
          <p:cNvPr id="59" name="TextBox 37"/>
          <p:cNvSpPr txBox="1"/>
          <p:nvPr/>
        </p:nvSpPr>
        <p:spPr>
          <a:xfrm>
            <a:off x="5068145" y="2538267"/>
            <a:ext cx="22672352" cy="879475"/>
          </a:xfrm>
          <a:prstGeom prst="rect">
            <a:avLst/>
          </a:prstGeom>
          <a:ln w="12700">
            <a:miter lim="400000"/>
          </a:ln>
        </p:spPr>
        <p:txBody>
          <a:bodyPr wrap="square" lIns="60959" rIns="60959">
            <a:spAutoFit/>
          </a:bodyPr>
          <a:lstStyle/>
          <a:p>
            <a:pPr algn="ctr">
              <a:lnSpc>
                <a:spcPct val="120000"/>
              </a:lnSpc>
              <a:spcBef>
                <a:spcPts val="1335"/>
              </a:spcBef>
              <a:defRPr sz="2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265" dirty="0">
                <a:solidFill>
                  <a:srgbClr val="6364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wangwb2023@shanghaitech.edu.cn,</a:t>
            </a:r>
            <a:r>
              <a:rPr lang="zh-CN" altLang="en-US" sz="4265" dirty="0">
                <a:solidFill>
                  <a:srgbClr val="6364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265" dirty="0">
                <a:solidFill>
                  <a:srgbClr val="6364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hew2@andrew.cmu.edu</a:t>
            </a:r>
            <a:endParaRPr lang="en-US" sz="4265" dirty="0">
              <a:solidFill>
                <a:srgbClr val="6364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3" name="Picture 6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829685" y="16399510"/>
            <a:ext cx="25251410" cy="92710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40509" y="260541"/>
            <a:ext cx="3036411" cy="1935205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817058" y="3902155"/>
            <a:ext cx="15490924" cy="82073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/>
              <a:t>Motivation</a:t>
            </a:r>
            <a:endParaRPr lang="en-US" sz="5600" b="1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974093" y="6704480"/>
            <a:ext cx="834390" cy="590550"/>
          </a:xfrm>
          <a:prstGeom prst="straightConnector1">
            <a:avLst/>
          </a:prstGeom>
          <a:ln w="44450">
            <a:solidFill>
              <a:schemeClr val="accent2">
                <a:lumMod val="50000"/>
              </a:schemeClr>
            </a:solidFill>
            <a:prstDash val="sys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What policies should your business have in place?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72" t="3410" r="21777" b="8907"/>
          <a:stretch>
            <a:fillRect/>
          </a:stretch>
        </p:blipFill>
        <p:spPr bwMode="auto">
          <a:xfrm>
            <a:off x="1391740" y="10211984"/>
            <a:ext cx="1026398" cy="15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ounded Rectangle 26"/>
          <p:cNvSpPr/>
          <p:nvPr/>
        </p:nvSpPr>
        <p:spPr>
          <a:xfrm>
            <a:off x="6882765" y="5671185"/>
            <a:ext cx="3864610" cy="162369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0060"/>
            <a:r>
              <a:rPr lang="en-US" altLang="zh-CN" sz="2800" b="1" dirty="0">
                <a:solidFill>
                  <a:prstClr val="black"/>
                </a:solidFill>
                <a:latin typeface="Calibri" panose="020F0502020204030204"/>
              </a:rPr>
              <a:t>Standard Constrained</a:t>
            </a:r>
            <a:r>
              <a:rPr lang="zh-CN" altLang="en-US" sz="28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latin typeface="Calibri" panose="020F0502020204030204"/>
              </a:rPr>
              <a:t>RL:</a:t>
            </a:r>
            <a:r>
              <a:rPr lang="zh-CN" altLang="en-US" sz="28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Learn the optimal policy of the nominal MDP under constraints?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73382" y="8802387"/>
            <a:ext cx="4011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with</a:t>
            </a:r>
            <a:r>
              <a:rPr lang="zh-CN" altLang="en-US" sz="2800" dirty="0"/>
              <a:t> </a:t>
            </a:r>
            <a:r>
              <a:rPr lang="en-US" altLang="zh-CN" sz="2800" dirty="0"/>
              <a:t>batch dataset</a:t>
            </a:r>
            <a:endParaRPr lang="en-US" altLang="zh-CN" sz="2800" dirty="0"/>
          </a:p>
          <a:p>
            <a:pPr algn="ctr"/>
            <a:r>
              <a:rPr lang="en-US" altLang="zh-CN" sz="2800" dirty="0"/>
              <a:t>from</a:t>
            </a:r>
            <a:r>
              <a:rPr lang="zh-CN" altLang="en-US" sz="2800" dirty="0"/>
              <a:t> </a:t>
            </a:r>
            <a:r>
              <a:rPr lang="en-US" altLang="zh-CN" sz="2800" dirty="0"/>
              <a:t>nominal</a:t>
            </a:r>
            <a:r>
              <a:rPr lang="zh-CN" altLang="en-US" sz="2800" dirty="0"/>
              <a:t> </a:t>
            </a:r>
            <a:endParaRPr lang="en-US" sz="2800" dirty="0"/>
          </a:p>
        </p:txBody>
      </p:sp>
      <p:grpSp>
        <p:nvGrpSpPr>
          <p:cNvPr id="121" name="Group 120"/>
          <p:cNvGrpSpPr/>
          <p:nvPr/>
        </p:nvGrpSpPr>
        <p:grpSpPr>
          <a:xfrm>
            <a:off x="16929188" y="12088985"/>
            <a:ext cx="15424627" cy="4864854"/>
            <a:chOff x="17067889" y="4886444"/>
            <a:chExt cx="15424627" cy="4864854"/>
          </a:xfrm>
        </p:grpSpPr>
        <p:sp>
          <p:nvSpPr>
            <p:cNvPr id="40" name="Rectangle 39"/>
            <p:cNvSpPr/>
            <p:nvPr/>
          </p:nvSpPr>
          <p:spPr>
            <a:xfrm>
              <a:off x="17472259" y="8735635"/>
              <a:ext cx="14360841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Instance-dependent sub-optimality gap </a:t>
              </a:r>
              <a:r>
                <a:rPr lang="en-US" sz="3200" b="1" dirty="0">
                  <a:solidFill>
                    <a:srgbClr val="C00000"/>
                  </a:solidFill>
                  <a:sym typeface="Wingdings" panose="05000000000000000000" pitchFamily="2" charset="2"/>
                </a:rPr>
                <a:t> depending on the batch data quality</a:t>
              </a:r>
              <a:r>
                <a:rPr lang="en-US" sz="3200" b="1" dirty="0">
                  <a:solidFill>
                    <a:srgbClr val="C00000"/>
                  </a:solidFill>
                </a:rPr>
                <a:t> </a:t>
              </a:r>
              <a:endParaRPr lang="en-US" sz="3200" b="1" dirty="0">
                <a:solidFill>
                  <a:srgbClr val="C00000"/>
                </a:solidFill>
              </a:endParaRPr>
            </a:p>
            <a:p>
              <a:endParaRPr lang="en-US" sz="2800" b="1" dirty="0">
                <a:solidFill>
                  <a:srgbClr val="C00000"/>
                </a:solidFill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17067889" y="4886444"/>
              <a:ext cx="1542462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3200" b="1" dirty="0"/>
            </a:p>
          </p:txBody>
        </p:sp>
        <p:sp>
          <p:nvSpPr>
            <p:cNvPr id="120" name="Down Arrow 119"/>
            <p:cNvSpPr/>
            <p:nvPr/>
          </p:nvSpPr>
          <p:spPr>
            <a:xfrm>
              <a:off x="24892658" y="7930348"/>
              <a:ext cx="333685" cy="669229"/>
            </a:xfrm>
            <a:prstGeom prst="downArrow">
              <a:avLst/>
            </a:prstGeom>
            <a:noFill/>
            <a:ln w="1905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22230439" y="6691114"/>
              <a:ext cx="5735320" cy="1212215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Rounded Rectangle 121"/>
          <p:cNvSpPr/>
          <p:nvPr/>
        </p:nvSpPr>
        <p:spPr>
          <a:xfrm>
            <a:off x="16687839" y="3895570"/>
            <a:ext cx="15424627" cy="82073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600" b="1" dirty="0"/>
              <a:t>Comparison with the most relevant work</a:t>
            </a:r>
            <a:r>
              <a:rPr lang="en-US" sz="5600" b="1" dirty="0"/>
              <a:t> </a:t>
            </a:r>
            <a:endParaRPr lang="en-US" sz="5600" b="1" dirty="0"/>
          </a:p>
        </p:txBody>
      </p:sp>
      <p:grpSp>
        <p:nvGrpSpPr>
          <p:cNvPr id="52" name="Group 51"/>
          <p:cNvGrpSpPr/>
          <p:nvPr/>
        </p:nvGrpSpPr>
        <p:grpSpPr>
          <a:xfrm>
            <a:off x="800668" y="5790274"/>
            <a:ext cx="5072866" cy="4089544"/>
            <a:chOff x="773150" y="5741838"/>
            <a:chExt cx="5072866" cy="4089544"/>
          </a:xfrm>
        </p:grpSpPr>
        <p:sp>
          <p:nvSpPr>
            <p:cNvPr id="61" name="Rounded Rectangle 60"/>
            <p:cNvSpPr/>
            <p:nvPr/>
          </p:nvSpPr>
          <p:spPr>
            <a:xfrm>
              <a:off x="1923611" y="8815505"/>
              <a:ext cx="3210953" cy="830997"/>
            </a:xfrm>
            <a:prstGeom prst="roundRect">
              <a:avLst/>
            </a:prstGeom>
            <a:solidFill>
              <a:srgbClr val="C00000">
                <a:alpha val="1812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49515" y="8887345"/>
              <a:ext cx="223930" cy="239495"/>
            </a:xfrm>
            <a:prstGeom prst="rect">
              <a:avLst/>
            </a:prstGeom>
          </p:spPr>
        </p:pic>
        <p:sp>
          <p:nvSpPr>
            <p:cNvPr id="57" name="Rounded Rectangle 56"/>
            <p:cNvSpPr/>
            <p:nvPr/>
          </p:nvSpPr>
          <p:spPr>
            <a:xfrm>
              <a:off x="773150" y="5741838"/>
              <a:ext cx="5072866" cy="4089544"/>
            </a:xfrm>
            <a:prstGeom prst="roundRect">
              <a:avLst>
                <a:gd name="adj" fmla="val 15880"/>
              </a:avLst>
            </a:prstGeom>
            <a:noFill/>
            <a:ln w="317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0060"/>
              <a:endParaRPr lang="en-US" sz="945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06117" y="9305535"/>
              <a:ext cx="282711" cy="239495"/>
            </a:xfrm>
            <a:prstGeom prst="rect">
              <a:avLst/>
            </a:prstGeom>
          </p:spPr>
        </p:pic>
        <p:grpSp>
          <p:nvGrpSpPr>
            <p:cNvPr id="60" name="Group 59"/>
            <p:cNvGrpSpPr/>
            <p:nvPr/>
          </p:nvGrpSpPr>
          <p:grpSpPr>
            <a:xfrm>
              <a:off x="908183" y="5910302"/>
              <a:ext cx="4381730" cy="2841861"/>
              <a:chOff x="5245278" y="86490"/>
              <a:chExt cx="11781665" cy="7905645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9386752" y="4094164"/>
                <a:ext cx="1993932" cy="4984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80"/>
              </a:p>
            </p:txBody>
          </p:sp>
          <p:pic>
            <p:nvPicPr>
              <p:cNvPr id="76" name="Picture 75"/>
              <p:cNvPicPr>
                <a:picLocks noChangeAspect="1"/>
              </p:cNvPicPr>
              <p:nvPr/>
            </p:nvPicPr>
            <p:blipFill rotWithShape="1">
              <a:blip r:embed="rId9"/>
              <a:srcRect t="10704" b="7702"/>
              <a:stretch>
                <a:fillRect/>
              </a:stretch>
            </p:blipFill>
            <p:spPr>
              <a:xfrm>
                <a:off x="8676343" y="1202651"/>
                <a:ext cx="7830589" cy="4622005"/>
              </a:xfrm>
              <a:prstGeom prst="rect">
                <a:avLst/>
              </a:prstGeom>
            </p:spPr>
          </p:pic>
          <p:sp>
            <p:nvSpPr>
              <p:cNvPr id="77" name="TextBox 76"/>
              <p:cNvSpPr txBox="1"/>
              <p:nvPr/>
            </p:nvSpPr>
            <p:spPr>
              <a:xfrm>
                <a:off x="9553537" y="6022899"/>
                <a:ext cx="6398686" cy="1969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C00000"/>
                    </a:solidFill>
                    <a:latin typeface="Bradley Hand" pitchFamily="2" charset="77"/>
                  </a:rPr>
                  <a:t>Nominal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Bradley Hand" pitchFamily="2" charset="77"/>
                  </a:rPr>
                  <a:t> </a:t>
                </a:r>
                <a:r>
                  <a:rPr lang="en-US" sz="2000" b="1" dirty="0">
                    <a:solidFill>
                      <a:srgbClr val="C00000"/>
                    </a:solidFill>
                    <a:latin typeface="Bradley Hand" pitchFamily="2" charset="77"/>
                  </a:rPr>
                  <a:t>Transition kernel</a:t>
                </a:r>
                <a:endParaRPr lang="en-US" sz="2000" b="1" dirty="0">
                  <a:solidFill>
                    <a:srgbClr val="C00000"/>
                  </a:solidFill>
                  <a:latin typeface="Bradley Hand" pitchFamily="2" charset="77"/>
                </a:endParaRPr>
              </a:p>
            </p:txBody>
          </p:sp>
          <p:pic>
            <p:nvPicPr>
              <p:cNvPr id="78" name="Picture 77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442486" y="3824463"/>
                <a:ext cx="584457" cy="796990"/>
              </a:xfrm>
              <a:prstGeom prst="rect">
                <a:avLst/>
              </a:prstGeom>
            </p:spPr>
          </p:pic>
          <p:sp>
            <p:nvSpPr>
              <p:cNvPr id="79" name="Oval Callout 78"/>
              <p:cNvSpPr/>
              <p:nvPr/>
            </p:nvSpPr>
            <p:spPr>
              <a:xfrm>
                <a:off x="5245278" y="5780408"/>
                <a:ext cx="4613128" cy="1894777"/>
              </a:xfrm>
              <a:prstGeom prst="wedgeEllipseCallout">
                <a:avLst>
                  <a:gd name="adj1" fmla="val -6000"/>
                  <a:gd name="adj2" fmla="val -9557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rgbClr val="7030A0"/>
                    </a:solidFill>
                  </a:rPr>
                  <a:t>Not</a:t>
                </a:r>
                <a:r>
                  <a:rPr lang="zh-CN" alt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en-US" sz="2000" b="1" dirty="0">
                    <a:solidFill>
                      <a:srgbClr val="7030A0"/>
                    </a:solidFill>
                  </a:rPr>
                  <a:t>arbitrary!</a:t>
                </a:r>
                <a:endParaRPr lang="en-US" sz="2000" b="1" dirty="0">
                  <a:solidFill>
                    <a:srgbClr val="7030A0"/>
                  </a:solidFill>
                </a:endParaRPr>
              </a:p>
            </p:txBody>
          </p:sp>
          <p:pic>
            <p:nvPicPr>
              <p:cNvPr id="80" name="Picture 79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89605" y="3872657"/>
                <a:ext cx="3805843" cy="1049049"/>
              </a:xfrm>
              <a:prstGeom prst="rect">
                <a:avLst/>
              </a:prstGeom>
            </p:spPr>
          </p:pic>
          <p:pic>
            <p:nvPicPr>
              <p:cNvPr id="81" name="Picture 80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046019" y="86490"/>
                <a:ext cx="3160640" cy="841319"/>
              </a:xfrm>
              <a:prstGeom prst="rect">
                <a:avLst/>
              </a:prstGeom>
            </p:spPr>
          </p:pic>
        </p:grpSp>
      </p:grpSp>
      <p:grpSp>
        <p:nvGrpSpPr>
          <p:cNvPr id="138" name="Group 137"/>
          <p:cNvGrpSpPr/>
          <p:nvPr/>
        </p:nvGrpSpPr>
        <p:grpSpPr>
          <a:xfrm>
            <a:off x="11064231" y="5668654"/>
            <a:ext cx="6005141" cy="3622166"/>
            <a:chOff x="10670055" y="5064499"/>
            <a:chExt cx="6334283" cy="3907524"/>
          </a:xfrm>
        </p:grpSpPr>
        <p:sp>
          <p:nvSpPr>
            <p:cNvPr id="38" name="Rectangle 37"/>
            <p:cNvSpPr/>
            <p:nvPr/>
          </p:nvSpPr>
          <p:spPr>
            <a:xfrm>
              <a:off x="10721926" y="5064499"/>
              <a:ext cx="6282412" cy="6308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Challenge I: sim-to-real gaps</a:t>
              </a:r>
              <a:endParaRPr lang="en-US" sz="3200" b="1" dirty="0">
                <a:solidFill>
                  <a:srgbClr val="C00000"/>
                </a:solidFill>
              </a:endParaRPr>
            </a:p>
          </p:txBody>
        </p:sp>
        <p:grpSp>
          <p:nvGrpSpPr>
            <p:cNvPr id="119" name="Group 118"/>
            <p:cNvGrpSpPr/>
            <p:nvPr/>
          </p:nvGrpSpPr>
          <p:grpSpPr>
            <a:xfrm>
              <a:off x="10670055" y="5768472"/>
              <a:ext cx="5477194" cy="3203551"/>
              <a:chOff x="3141175" y="2419694"/>
              <a:chExt cx="2768771" cy="1572184"/>
            </a:xfrm>
          </p:grpSpPr>
          <p:sp>
            <p:nvSpPr>
              <p:cNvPr id="126" name="Cloud 125"/>
              <p:cNvSpPr/>
              <p:nvPr/>
            </p:nvSpPr>
            <p:spPr>
              <a:xfrm>
                <a:off x="3141175" y="2527529"/>
                <a:ext cx="2425386" cy="1245110"/>
              </a:xfrm>
              <a:custGeom>
                <a:avLst/>
                <a:gdLst>
                  <a:gd name="connsiteX0" fmla="*/ 410637 w 4548599"/>
                  <a:gd name="connsiteY0" fmla="*/ 782304 h 2351812"/>
                  <a:gd name="connsiteX1" fmla="*/ 592054 w 4548599"/>
                  <a:gd name="connsiteY1" fmla="*/ 376017 h 2351812"/>
                  <a:gd name="connsiteX2" fmla="*/ 1474609 w 4548599"/>
                  <a:gd name="connsiteY2" fmla="*/ 283197 h 2351812"/>
                  <a:gd name="connsiteX3" fmla="*/ 2364429 w 4548599"/>
                  <a:gd name="connsiteY3" fmla="*/ 186838 h 2351812"/>
                  <a:gd name="connsiteX4" fmla="*/ 2711154 w 4548599"/>
                  <a:gd name="connsiteY4" fmla="*/ 10888 h 2351812"/>
                  <a:gd name="connsiteX5" fmla="*/ 3141165 w 4548599"/>
                  <a:gd name="connsiteY5" fmla="*/ 135065 h 2351812"/>
                  <a:gd name="connsiteX6" fmla="*/ 3733957 w 4548599"/>
                  <a:gd name="connsiteY6" fmla="*/ 37563 h 2351812"/>
                  <a:gd name="connsiteX7" fmla="*/ 4034565 w 4548599"/>
                  <a:gd name="connsiteY7" fmla="*/ 303557 h 2351812"/>
                  <a:gd name="connsiteX8" fmla="*/ 4420353 w 4548599"/>
                  <a:gd name="connsiteY8" fmla="*/ 561712 h 2351812"/>
                  <a:gd name="connsiteX9" fmla="*/ 4403085 w 4548599"/>
                  <a:gd name="connsiteY9" fmla="*/ 841643 h 2351812"/>
                  <a:gd name="connsiteX10" fmla="*/ 4529225 w 4548599"/>
                  <a:gd name="connsiteY10" fmla="*/ 1269651 h 2351812"/>
                  <a:gd name="connsiteX11" fmla="*/ 3938328 w 4548599"/>
                  <a:gd name="connsiteY11" fmla="*/ 1644308 h 2351812"/>
                  <a:gd name="connsiteX12" fmla="*/ 3726797 w 4548599"/>
                  <a:gd name="connsiteY12" fmla="*/ 1965341 h 2351812"/>
                  <a:gd name="connsiteX13" fmla="*/ 3006602 w 4548599"/>
                  <a:gd name="connsiteY13" fmla="*/ 2004212 h 2351812"/>
                  <a:gd name="connsiteX14" fmla="*/ 2491937 w 4548599"/>
                  <a:gd name="connsiteY14" fmla="*/ 2346694 h 2351812"/>
                  <a:gd name="connsiteX15" fmla="*/ 1735206 w 4548599"/>
                  <a:gd name="connsiteY15" fmla="*/ 2137644 h 2351812"/>
                  <a:gd name="connsiteX16" fmla="*/ 611112 w 4548599"/>
                  <a:gd name="connsiteY16" fmla="*/ 1931098 h 2351812"/>
                  <a:gd name="connsiteX17" fmla="*/ 116873 w 4548599"/>
                  <a:gd name="connsiteY17" fmla="*/ 1701252 h 2351812"/>
                  <a:gd name="connsiteX18" fmla="*/ 222481 w 4548599"/>
                  <a:gd name="connsiteY18" fmla="*/ 1390998 h 2351812"/>
                  <a:gd name="connsiteX19" fmla="*/ -527 w 4548599"/>
                  <a:gd name="connsiteY19" fmla="*/ 1072687 h 2351812"/>
                  <a:gd name="connsiteX20" fmla="*/ 406741 w 4548599"/>
                  <a:gd name="connsiteY20" fmla="*/ 789762 h 2351812"/>
                  <a:gd name="connsiteX21" fmla="*/ 410637 w 4548599"/>
                  <a:gd name="connsiteY21" fmla="*/ 782304 h 2351812"/>
                  <a:gd name="connsiteX0-1" fmla="*/ 494133 w 4548599"/>
                  <a:gd name="connsiteY0-2" fmla="*/ 1425078 h 2351812"/>
                  <a:gd name="connsiteX1-3" fmla="*/ 227429 w 4548599"/>
                  <a:gd name="connsiteY1-4" fmla="*/ 1381689 h 2351812"/>
                  <a:gd name="connsiteX2-5" fmla="*/ 729460 w 4548599"/>
                  <a:gd name="connsiteY2-6" fmla="*/ 1899904 h 2351812"/>
                  <a:gd name="connsiteX3-7" fmla="*/ 612797 w 4548599"/>
                  <a:gd name="connsiteY3-8" fmla="*/ 1920646 h 2351812"/>
                  <a:gd name="connsiteX4-9" fmla="*/ 1734995 w 4548599"/>
                  <a:gd name="connsiteY4-10" fmla="*/ 2128063 h 2351812"/>
                  <a:gd name="connsiteX5-11" fmla="*/ 1664660 w 4548599"/>
                  <a:gd name="connsiteY5-12" fmla="*/ 2033337 h 2351812"/>
                  <a:gd name="connsiteX6-13" fmla="*/ 3035242 w 4548599"/>
                  <a:gd name="connsiteY6-14" fmla="*/ 1891847 h 2351812"/>
                  <a:gd name="connsiteX7-15" fmla="*/ 3007129 w 4548599"/>
                  <a:gd name="connsiteY7-16" fmla="*/ 1995773 h 2351812"/>
                  <a:gd name="connsiteX8-17" fmla="*/ 3593498 w 4548599"/>
                  <a:gd name="connsiteY8-18" fmla="*/ 1249617 h 2351812"/>
                  <a:gd name="connsiteX9-19" fmla="*/ 3935801 w 4548599"/>
                  <a:gd name="connsiteY9-20" fmla="*/ 1638102 h 2351812"/>
                  <a:gd name="connsiteX10-21" fmla="*/ 4400980 w 4548599"/>
                  <a:gd name="connsiteY10-22" fmla="*/ 835873 h 2351812"/>
                  <a:gd name="connsiteX11-23" fmla="*/ 4248517 w 4548599"/>
                  <a:gd name="connsiteY11-24" fmla="*/ 981554 h 2351812"/>
                  <a:gd name="connsiteX12-25" fmla="*/ 4035196 w 4548599"/>
                  <a:gd name="connsiteY12-26" fmla="*/ 295391 h 2351812"/>
                  <a:gd name="connsiteX13-27" fmla="*/ 4043199 w 4548599"/>
                  <a:gd name="connsiteY13-28" fmla="*/ 364204 h 2351812"/>
                  <a:gd name="connsiteX14-29" fmla="*/ 3061670 w 4548599"/>
                  <a:gd name="connsiteY14-30" fmla="*/ 215147 h 2351812"/>
                  <a:gd name="connsiteX15-31" fmla="*/ 3139796 w 4548599"/>
                  <a:gd name="connsiteY15-32" fmla="*/ 127389 h 2351812"/>
                  <a:gd name="connsiteX16-33" fmla="*/ 2331262 w 4548599"/>
                  <a:gd name="connsiteY16-34" fmla="*/ 256957 h 2351812"/>
                  <a:gd name="connsiteX17-35" fmla="*/ 2369061 w 4548599"/>
                  <a:gd name="connsiteY17-36" fmla="*/ 181285 h 2351812"/>
                  <a:gd name="connsiteX18-37" fmla="*/ 1474083 w 4548599"/>
                  <a:gd name="connsiteY18-38" fmla="*/ 282652 h 2351812"/>
                  <a:gd name="connsiteX19-39" fmla="*/ 1610962 w 4548599"/>
                  <a:gd name="connsiteY19-40" fmla="*/ 356038 h 2351812"/>
                  <a:gd name="connsiteX20-41" fmla="*/ 434538 w 4548599"/>
                  <a:gd name="connsiteY20-42" fmla="*/ 859554 h 2351812"/>
                  <a:gd name="connsiteX21-43" fmla="*/ 410637 w 4548599"/>
                  <a:gd name="connsiteY21-44" fmla="*/ 782304 h 235181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</a:cxnLst>
                <a:rect l="l" t="t" r="r" b="b"/>
                <a:pathLst>
                  <a:path w="4548599" h="2351812" fill="none" extrusionOk="0">
                    <a:moveTo>
                      <a:pt x="410637" y="782304"/>
                    </a:moveTo>
                    <a:cubicBezTo>
                      <a:pt x="371378" y="656139"/>
                      <a:pt x="445697" y="481746"/>
                      <a:pt x="592054" y="376017"/>
                    </a:cubicBezTo>
                    <a:cubicBezTo>
                      <a:pt x="837719" y="208820"/>
                      <a:pt x="1183814" y="118781"/>
                      <a:pt x="1474609" y="283197"/>
                    </a:cubicBezTo>
                    <a:cubicBezTo>
                      <a:pt x="1694151" y="76821"/>
                      <a:pt x="2063487" y="8502"/>
                      <a:pt x="2364429" y="186838"/>
                    </a:cubicBezTo>
                    <a:cubicBezTo>
                      <a:pt x="2428812" y="101316"/>
                      <a:pt x="2555786" y="7701"/>
                      <a:pt x="2711154" y="10888"/>
                    </a:cubicBezTo>
                    <a:cubicBezTo>
                      <a:pt x="2882297" y="-10410"/>
                      <a:pt x="3052799" y="20210"/>
                      <a:pt x="3141165" y="135065"/>
                    </a:cubicBezTo>
                    <a:cubicBezTo>
                      <a:pt x="3259047" y="3943"/>
                      <a:pt x="3555225" y="-52429"/>
                      <a:pt x="3733957" y="37563"/>
                    </a:cubicBezTo>
                    <a:cubicBezTo>
                      <a:pt x="3875984" y="93879"/>
                      <a:pt x="4012489" y="207445"/>
                      <a:pt x="4034565" y="303557"/>
                    </a:cubicBezTo>
                    <a:cubicBezTo>
                      <a:pt x="4227728" y="336282"/>
                      <a:pt x="4355464" y="457588"/>
                      <a:pt x="4420353" y="561712"/>
                    </a:cubicBezTo>
                    <a:cubicBezTo>
                      <a:pt x="4481787" y="658718"/>
                      <a:pt x="4452158" y="736849"/>
                      <a:pt x="4403085" y="841643"/>
                    </a:cubicBezTo>
                    <a:cubicBezTo>
                      <a:pt x="4559283" y="964007"/>
                      <a:pt x="4592179" y="1131166"/>
                      <a:pt x="4529225" y="1269651"/>
                    </a:cubicBezTo>
                    <a:cubicBezTo>
                      <a:pt x="4489639" y="1497024"/>
                      <a:pt x="4239527" y="1650614"/>
                      <a:pt x="3938328" y="1644308"/>
                    </a:cubicBezTo>
                    <a:cubicBezTo>
                      <a:pt x="3940890" y="1771613"/>
                      <a:pt x="3846502" y="1867013"/>
                      <a:pt x="3726797" y="1965341"/>
                    </a:cubicBezTo>
                    <a:cubicBezTo>
                      <a:pt x="3490481" y="2121789"/>
                      <a:pt x="3252878" y="2108000"/>
                      <a:pt x="3006602" y="2004212"/>
                    </a:cubicBezTo>
                    <a:cubicBezTo>
                      <a:pt x="2944976" y="2162437"/>
                      <a:pt x="2732911" y="2297001"/>
                      <a:pt x="2491937" y="2346694"/>
                    </a:cubicBezTo>
                    <a:cubicBezTo>
                      <a:pt x="2169550" y="2410994"/>
                      <a:pt x="1902477" y="2340105"/>
                      <a:pt x="1735206" y="2137644"/>
                    </a:cubicBezTo>
                    <a:cubicBezTo>
                      <a:pt x="1330373" y="2286872"/>
                      <a:pt x="841775" y="2205804"/>
                      <a:pt x="611112" y="1931098"/>
                    </a:cubicBezTo>
                    <a:cubicBezTo>
                      <a:pt x="403856" y="1968293"/>
                      <a:pt x="192258" y="1854452"/>
                      <a:pt x="116873" y="1701252"/>
                    </a:cubicBezTo>
                    <a:cubicBezTo>
                      <a:pt x="62574" y="1595254"/>
                      <a:pt x="110918" y="1450327"/>
                      <a:pt x="222481" y="1390998"/>
                    </a:cubicBezTo>
                    <a:cubicBezTo>
                      <a:pt x="67710" y="1300208"/>
                      <a:pt x="-19714" y="1192761"/>
                      <a:pt x="-527" y="1072687"/>
                    </a:cubicBezTo>
                    <a:cubicBezTo>
                      <a:pt x="13347" y="923628"/>
                      <a:pt x="199467" y="797121"/>
                      <a:pt x="406741" y="789762"/>
                    </a:cubicBezTo>
                    <a:cubicBezTo>
                      <a:pt x="408192" y="787111"/>
                      <a:pt x="409832" y="784772"/>
                      <a:pt x="410637" y="782304"/>
                    </a:cubicBezTo>
                    <a:close/>
                  </a:path>
                  <a:path w="4548599" h="2351812" fill="none" extrusionOk="0">
                    <a:moveTo>
                      <a:pt x="494133" y="1425078"/>
                    </a:moveTo>
                    <a:cubicBezTo>
                      <a:pt x="408543" y="1415861"/>
                      <a:pt x="312788" y="1410058"/>
                      <a:pt x="227429" y="1381689"/>
                    </a:cubicBezTo>
                    <a:moveTo>
                      <a:pt x="729460" y="1899904"/>
                    </a:moveTo>
                    <a:cubicBezTo>
                      <a:pt x="697531" y="1906658"/>
                      <a:pt x="657368" y="1913523"/>
                      <a:pt x="612797" y="1920646"/>
                    </a:cubicBezTo>
                    <a:moveTo>
                      <a:pt x="1734995" y="2128063"/>
                    </a:moveTo>
                    <a:cubicBezTo>
                      <a:pt x="1707048" y="2099277"/>
                      <a:pt x="1687756" y="2062425"/>
                      <a:pt x="1664660" y="2033337"/>
                    </a:cubicBezTo>
                    <a:moveTo>
                      <a:pt x="3035242" y="1891847"/>
                    </a:moveTo>
                    <a:cubicBezTo>
                      <a:pt x="3036209" y="1927382"/>
                      <a:pt x="3021237" y="1956684"/>
                      <a:pt x="3007129" y="1995773"/>
                    </a:cubicBezTo>
                    <a:moveTo>
                      <a:pt x="3593498" y="1249617"/>
                    </a:moveTo>
                    <a:cubicBezTo>
                      <a:pt x="3802099" y="1322178"/>
                      <a:pt x="3953036" y="1491735"/>
                      <a:pt x="3935801" y="1638102"/>
                    </a:cubicBezTo>
                    <a:moveTo>
                      <a:pt x="4400980" y="835873"/>
                    </a:moveTo>
                    <a:cubicBezTo>
                      <a:pt x="4364867" y="896667"/>
                      <a:pt x="4316685" y="941204"/>
                      <a:pt x="4248517" y="981554"/>
                    </a:cubicBezTo>
                    <a:moveTo>
                      <a:pt x="4035196" y="295391"/>
                    </a:moveTo>
                    <a:cubicBezTo>
                      <a:pt x="4042329" y="314874"/>
                      <a:pt x="4046062" y="342152"/>
                      <a:pt x="4043199" y="364204"/>
                    </a:cubicBezTo>
                    <a:moveTo>
                      <a:pt x="3061670" y="215147"/>
                    </a:moveTo>
                    <a:cubicBezTo>
                      <a:pt x="3082721" y="181601"/>
                      <a:pt x="3111994" y="152444"/>
                      <a:pt x="3139796" y="127389"/>
                    </a:cubicBezTo>
                    <a:moveTo>
                      <a:pt x="2331262" y="256957"/>
                    </a:moveTo>
                    <a:cubicBezTo>
                      <a:pt x="2343050" y="231376"/>
                      <a:pt x="2352498" y="210254"/>
                      <a:pt x="2369061" y="181285"/>
                    </a:cubicBezTo>
                    <a:moveTo>
                      <a:pt x="1474083" y="282652"/>
                    </a:moveTo>
                    <a:cubicBezTo>
                      <a:pt x="1516367" y="300337"/>
                      <a:pt x="1576373" y="327342"/>
                      <a:pt x="1610962" y="356038"/>
                    </a:cubicBezTo>
                    <a:moveTo>
                      <a:pt x="434538" y="859554"/>
                    </a:moveTo>
                    <a:cubicBezTo>
                      <a:pt x="423604" y="830485"/>
                      <a:pt x="416655" y="807790"/>
                      <a:pt x="410637" y="782304"/>
                    </a:cubicBezTo>
                  </a:path>
                  <a:path w="4548599" h="2351812" stroke="0" extrusionOk="0">
                    <a:moveTo>
                      <a:pt x="410637" y="782304"/>
                    </a:moveTo>
                    <a:cubicBezTo>
                      <a:pt x="362461" y="622492"/>
                      <a:pt x="426043" y="494144"/>
                      <a:pt x="592054" y="376017"/>
                    </a:cubicBezTo>
                    <a:cubicBezTo>
                      <a:pt x="866895" y="213001"/>
                      <a:pt x="1134349" y="165888"/>
                      <a:pt x="1474609" y="283197"/>
                    </a:cubicBezTo>
                    <a:cubicBezTo>
                      <a:pt x="1607810" y="91431"/>
                      <a:pt x="2089683" y="40410"/>
                      <a:pt x="2364429" y="186838"/>
                    </a:cubicBezTo>
                    <a:cubicBezTo>
                      <a:pt x="2424948" y="87807"/>
                      <a:pt x="2585054" y="37041"/>
                      <a:pt x="2711154" y="10888"/>
                    </a:cubicBezTo>
                    <a:cubicBezTo>
                      <a:pt x="2890656" y="-3794"/>
                      <a:pt x="3041922" y="38573"/>
                      <a:pt x="3141165" y="135065"/>
                    </a:cubicBezTo>
                    <a:cubicBezTo>
                      <a:pt x="3251655" y="9172"/>
                      <a:pt x="3522251" y="-20218"/>
                      <a:pt x="3733957" y="37563"/>
                    </a:cubicBezTo>
                    <a:cubicBezTo>
                      <a:pt x="3888970" y="62380"/>
                      <a:pt x="3990145" y="204686"/>
                      <a:pt x="4034565" y="303557"/>
                    </a:cubicBezTo>
                    <a:cubicBezTo>
                      <a:pt x="4232981" y="347730"/>
                      <a:pt x="4387362" y="441656"/>
                      <a:pt x="4420353" y="561712"/>
                    </a:cubicBezTo>
                    <a:cubicBezTo>
                      <a:pt x="4451207" y="651448"/>
                      <a:pt x="4465526" y="759851"/>
                      <a:pt x="4403085" y="841643"/>
                    </a:cubicBezTo>
                    <a:cubicBezTo>
                      <a:pt x="4537473" y="965666"/>
                      <a:pt x="4585288" y="1151951"/>
                      <a:pt x="4529225" y="1269651"/>
                    </a:cubicBezTo>
                    <a:cubicBezTo>
                      <a:pt x="4483359" y="1505394"/>
                      <a:pt x="4231750" y="1623548"/>
                      <a:pt x="3938328" y="1644308"/>
                    </a:cubicBezTo>
                    <a:cubicBezTo>
                      <a:pt x="3952512" y="1754106"/>
                      <a:pt x="3860751" y="1880210"/>
                      <a:pt x="3726797" y="1965341"/>
                    </a:cubicBezTo>
                    <a:cubicBezTo>
                      <a:pt x="3519448" y="2088647"/>
                      <a:pt x="3211356" y="2088663"/>
                      <a:pt x="3006602" y="2004212"/>
                    </a:cubicBezTo>
                    <a:cubicBezTo>
                      <a:pt x="2910141" y="2173119"/>
                      <a:pt x="2723833" y="2277344"/>
                      <a:pt x="2491937" y="2346694"/>
                    </a:cubicBezTo>
                    <a:cubicBezTo>
                      <a:pt x="2205443" y="2357107"/>
                      <a:pt x="1890796" y="2317970"/>
                      <a:pt x="1735206" y="2137644"/>
                    </a:cubicBezTo>
                    <a:cubicBezTo>
                      <a:pt x="1339529" y="2312757"/>
                      <a:pt x="870670" y="2234712"/>
                      <a:pt x="611112" y="1931098"/>
                    </a:cubicBezTo>
                    <a:cubicBezTo>
                      <a:pt x="387509" y="1973621"/>
                      <a:pt x="206834" y="1836068"/>
                      <a:pt x="116873" y="1701252"/>
                    </a:cubicBezTo>
                    <a:cubicBezTo>
                      <a:pt x="62729" y="1605904"/>
                      <a:pt x="107296" y="1474304"/>
                      <a:pt x="222481" y="1390998"/>
                    </a:cubicBezTo>
                    <a:cubicBezTo>
                      <a:pt x="69542" y="1334481"/>
                      <a:pt x="-26975" y="1203183"/>
                      <a:pt x="-527" y="1072687"/>
                    </a:cubicBezTo>
                    <a:cubicBezTo>
                      <a:pt x="29871" y="895786"/>
                      <a:pt x="181953" y="804526"/>
                      <a:pt x="406741" y="789762"/>
                    </a:cubicBezTo>
                    <a:cubicBezTo>
                      <a:pt x="408037" y="787286"/>
                      <a:pt x="409270" y="785118"/>
                      <a:pt x="410637" y="782304"/>
                    </a:cubicBezTo>
                    <a:close/>
                  </a:path>
                  <a:path w="4548599" h="2351812" fill="none" stroke="0" extrusionOk="0">
                    <a:moveTo>
                      <a:pt x="494133" y="1425078"/>
                    </a:moveTo>
                    <a:cubicBezTo>
                      <a:pt x="404873" y="1415417"/>
                      <a:pt x="310918" y="1404019"/>
                      <a:pt x="227429" y="1381689"/>
                    </a:cubicBezTo>
                    <a:moveTo>
                      <a:pt x="729460" y="1899904"/>
                    </a:moveTo>
                    <a:cubicBezTo>
                      <a:pt x="691811" y="1911750"/>
                      <a:pt x="652453" y="1916999"/>
                      <a:pt x="612797" y="1920646"/>
                    </a:cubicBezTo>
                    <a:moveTo>
                      <a:pt x="1734995" y="2128063"/>
                    </a:moveTo>
                    <a:cubicBezTo>
                      <a:pt x="1709390" y="2100358"/>
                      <a:pt x="1678791" y="2067860"/>
                      <a:pt x="1664660" y="2033337"/>
                    </a:cubicBezTo>
                    <a:moveTo>
                      <a:pt x="3035242" y="1891847"/>
                    </a:moveTo>
                    <a:cubicBezTo>
                      <a:pt x="3030164" y="1927410"/>
                      <a:pt x="3021539" y="1955924"/>
                      <a:pt x="3007129" y="1995773"/>
                    </a:cubicBezTo>
                    <a:moveTo>
                      <a:pt x="3593498" y="1249617"/>
                    </a:moveTo>
                    <a:cubicBezTo>
                      <a:pt x="3797512" y="1324507"/>
                      <a:pt x="3937518" y="1475729"/>
                      <a:pt x="3935801" y="1638102"/>
                    </a:cubicBezTo>
                    <a:moveTo>
                      <a:pt x="4400980" y="835873"/>
                    </a:moveTo>
                    <a:cubicBezTo>
                      <a:pt x="4362308" y="888153"/>
                      <a:pt x="4316503" y="942091"/>
                      <a:pt x="4248517" y="981554"/>
                    </a:cubicBezTo>
                    <a:moveTo>
                      <a:pt x="4035196" y="295391"/>
                    </a:moveTo>
                    <a:cubicBezTo>
                      <a:pt x="4038904" y="317894"/>
                      <a:pt x="4040887" y="342364"/>
                      <a:pt x="4043199" y="364204"/>
                    </a:cubicBezTo>
                    <a:moveTo>
                      <a:pt x="3061670" y="215147"/>
                    </a:moveTo>
                    <a:cubicBezTo>
                      <a:pt x="3076491" y="177492"/>
                      <a:pt x="3107990" y="151288"/>
                      <a:pt x="3139796" y="127389"/>
                    </a:cubicBezTo>
                    <a:moveTo>
                      <a:pt x="2331262" y="256957"/>
                    </a:moveTo>
                    <a:cubicBezTo>
                      <a:pt x="2338588" y="231852"/>
                      <a:pt x="2350410" y="209537"/>
                      <a:pt x="2369061" y="181285"/>
                    </a:cubicBezTo>
                    <a:moveTo>
                      <a:pt x="1474083" y="282652"/>
                    </a:moveTo>
                    <a:cubicBezTo>
                      <a:pt x="1520207" y="303980"/>
                      <a:pt x="1571989" y="334097"/>
                      <a:pt x="1610962" y="356038"/>
                    </a:cubicBezTo>
                    <a:moveTo>
                      <a:pt x="434538" y="859554"/>
                    </a:moveTo>
                    <a:cubicBezTo>
                      <a:pt x="420121" y="833674"/>
                      <a:pt x="415665" y="807824"/>
                      <a:pt x="410637" y="782304"/>
                    </a:cubicBezTo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5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Cloud 126"/>
              <p:cNvSpPr/>
              <p:nvPr/>
            </p:nvSpPr>
            <p:spPr>
              <a:xfrm>
                <a:off x="3334616" y="2622585"/>
                <a:ext cx="2243648" cy="1369293"/>
              </a:xfrm>
              <a:custGeom>
                <a:avLst/>
                <a:gdLst>
                  <a:gd name="connsiteX0" fmla="*/ 379867 w 4207766"/>
                  <a:gd name="connsiteY0" fmla="*/ 860328 h 2586374"/>
                  <a:gd name="connsiteX1" fmla="*/ 547691 w 4207766"/>
                  <a:gd name="connsiteY1" fmla="*/ 413520 h 2586374"/>
                  <a:gd name="connsiteX2" fmla="*/ 1364114 w 4207766"/>
                  <a:gd name="connsiteY2" fmla="*/ 311442 h 2586374"/>
                  <a:gd name="connsiteX3" fmla="*/ 2187259 w 4207766"/>
                  <a:gd name="connsiteY3" fmla="*/ 205473 h 2586374"/>
                  <a:gd name="connsiteX4" fmla="*/ 2508003 w 4207766"/>
                  <a:gd name="connsiteY4" fmla="*/ 11973 h 2586374"/>
                  <a:gd name="connsiteX5" fmla="*/ 2905793 w 4207766"/>
                  <a:gd name="connsiteY5" fmla="*/ 148536 h 2586374"/>
                  <a:gd name="connsiteX6" fmla="*/ 3454166 w 4207766"/>
                  <a:gd name="connsiteY6" fmla="*/ 41310 h 2586374"/>
                  <a:gd name="connsiteX7" fmla="*/ 3732249 w 4207766"/>
                  <a:gd name="connsiteY7" fmla="*/ 333833 h 2586374"/>
                  <a:gd name="connsiteX8" fmla="*/ 4089130 w 4207766"/>
                  <a:gd name="connsiteY8" fmla="*/ 617736 h 2586374"/>
                  <a:gd name="connsiteX9" fmla="*/ 4073156 w 4207766"/>
                  <a:gd name="connsiteY9" fmla="*/ 925586 h 2586374"/>
                  <a:gd name="connsiteX10" fmla="*/ 4189844 w 4207766"/>
                  <a:gd name="connsiteY10" fmla="*/ 1396282 h 2586374"/>
                  <a:gd name="connsiteX11" fmla="*/ 3643224 w 4207766"/>
                  <a:gd name="connsiteY11" fmla="*/ 1808306 h 2586374"/>
                  <a:gd name="connsiteX12" fmla="*/ 3447543 w 4207766"/>
                  <a:gd name="connsiteY12" fmla="*/ 2161358 h 2586374"/>
                  <a:gd name="connsiteX13" fmla="*/ 2781313 w 4207766"/>
                  <a:gd name="connsiteY13" fmla="*/ 2204105 h 2586374"/>
                  <a:gd name="connsiteX14" fmla="*/ 2305212 w 4207766"/>
                  <a:gd name="connsiteY14" fmla="*/ 2580746 h 2586374"/>
                  <a:gd name="connsiteX15" fmla="*/ 1605184 w 4207766"/>
                  <a:gd name="connsiteY15" fmla="*/ 2350846 h 2586374"/>
                  <a:gd name="connsiteX16" fmla="*/ 565321 w 4207766"/>
                  <a:gd name="connsiteY16" fmla="*/ 2123700 h 2586374"/>
                  <a:gd name="connsiteX17" fmla="*/ 108116 w 4207766"/>
                  <a:gd name="connsiteY17" fmla="*/ 1870930 h 2586374"/>
                  <a:gd name="connsiteX18" fmla="*/ 205810 w 4207766"/>
                  <a:gd name="connsiteY18" fmla="*/ 1529732 h 2586374"/>
                  <a:gd name="connsiteX19" fmla="*/ -488 w 4207766"/>
                  <a:gd name="connsiteY19" fmla="*/ 1179673 h 2586374"/>
                  <a:gd name="connsiteX20" fmla="*/ 376263 w 4207766"/>
                  <a:gd name="connsiteY20" fmla="*/ 868530 h 2586374"/>
                  <a:gd name="connsiteX21" fmla="*/ 379867 w 4207766"/>
                  <a:gd name="connsiteY21" fmla="*/ 860328 h 2586374"/>
                  <a:gd name="connsiteX0-1" fmla="*/ 457107 w 4207766"/>
                  <a:gd name="connsiteY0-2" fmla="*/ 1567210 h 2586374"/>
                  <a:gd name="connsiteX1-3" fmla="*/ 210388 w 4207766"/>
                  <a:gd name="connsiteY1-4" fmla="*/ 1519494 h 2586374"/>
                  <a:gd name="connsiteX2-5" fmla="*/ 674800 w 4207766"/>
                  <a:gd name="connsiteY2-6" fmla="*/ 2089395 h 2586374"/>
                  <a:gd name="connsiteX3-7" fmla="*/ 566879 w 4207766"/>
                  <a:gd name="connsiteY3-8" fmla="*/ 2112205 h 2586374"/>
                  <a:gd name="connsiteX4-9" fmla="*/ 1604990 w 4207766"/>
                  <a:gd name="connsiteY4-10" fmla="*/ 2340309 h 2586374"/>
                  <a:gd name="connsiteX5-11" fmla="*/ 1539925 w 4207766"/>
                  <a:gd name="connsiteY5-12" fmla="*/ 2236135 h 2586374"/>
                  <a:gd name="connsiteX6-13" fmla="*/ 2807807 w 4207766"/>
                  <a:gd name="connsiteY6-14" fmla="*/ 2080534 h 2586374"/>
                  <a:gd name="connsiteX7-15" fmla="*/ 2781800 w 4207766"/>
                  <a:gd name="connsiteY7-16" fmla="*/ 2194825 h 2586374"/>
                  <a:gd name="connsiteX8-17" fmla="*/ 3324232 w 4207766"/>
                  <a:gd name="connsiteY8-18" fmla="*/ 1374250 h 2586374"/>
                  <a:gd name="connsiteX9-19" fmla="*/ 3640886 w 4207766"/>
                  <a:gd name="connsiteY9-20" fmla="*/ 1801481 h 2586374"/>
                  <a:gd name="connsiteX10-21" fmla="*/ 4071208 w 4207766"/>
                  <a:gd name="connsiteY10-22" fmla="*/ 919240 h 2586374"/>
                  <a:gd name="connsiteX11-23" fmla="*/ 3930170 w 4207766"/>
                  <a:gd name="connsiteY11-24" fmla="*/ 1079451 h 2586374"/>
                  <a:gd name="connsiteX12-25" fmla="*/ 3732833 w 4207766"/>
                  <a:gd name="connsiteY12-26" fmla="*/ 324853 h 2586374"/>
                  <a:gd name="connsiteX13-27" fmla="*/ 3740236 w 4207766"/>
                  <a:gd name="connsiteY13-28" fmla="*/ 400528 h 2586374"/>
                  <a:gd name="connsiteX14-29" fmla="*/ 2832255 w 4207766"/>
                  <a:gd name="connsiteY14-30" fmla="*/ 236605 h 2586374"/>
                  <a:gd name="connsiteX15-31" fmla="*/ 2904527 w 4207766"/>
                  <a:gd name="connsiteY15-32" fmla="*/ 140095 h 2586374"/>
                  <a:gd name="connsiteX16-33" fmla="*/ 2156577 w 4207766"/>
                  <a:gd name="connsiteY16-34" fmla="*/ 282585 h 2586374"/>
                  <a:gd name="connsiteX17-35" fmla="*/ 2191544 w 4207766"/>
                  <a:gd name="connsiteY17-36" fmla="*/ 199366 h 2586374"/>
                  <a:gd name="connsiteX18-37" fmla="*/ 1363627 w 4207766"/>
                  <a:gd name="connsiteY18-38" fmla="*/ 310843 h 2586374"/>
                  <a:gd name="connsiteX19-39" fmla="*/ 1490250 w 4207766"/>
                  <a:gd name="connsiteY19-40" fmla="*/ 391548 h 2586374"/>
                  <a:gd name="connsiteX20-41" fmla="*/ 401978 w 4207766"/>
                  <a:gd name="connsiteY20-42" fmla="*/ 945283 h 2586374"/>
                  <a:gd name="connsiteX21-43" fmla="*/ 379867 w 4207766"/>
                  <a:gd name="connsiteY21-44" fmla="*/ 860328 h 258637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</a:cxnLst>
                <a:rect l="l" t="t" r="r" b="b"/>
                <a:pathLst>
                  <a:path w="4207766" h="2586374" fill="none" extrusionOk="0">
                    <a:moveTo>
                      <a:pt x="379867" y="860328"/>
                    </a:moveTo>
                    <a:cubicBezTo>
                      <a:pt x="338190" y="728576"/>
                      <a:pt x="404748" y="520457"/>
                      <a:pt x="547691" y="413520"/>
                    </a:cubicBezTo>
                    <a:cubicBezTo>
                      <a:pt x="793873" y="234533"/>
                      <a:pt x="1096870" y="175109"/>
                      <a:pt x="1364114" y="311442"/>
                    </a:cubicBezTo>
                    <a:cubicBezTo>
                      <a:pt x="1563399" y="77309"/>
                      <a:pt x="1914467" y="6846"/>
                      <a:pt x="2187259" y="205473"/>
                    </a:cubicBezTo>
                    <a:cubicBezTo>
                      <a:pt x="2244315" y="117528"/>
                      <a:pt x="2361727" y="3600"/>
                      <a:pt x="2508003" y="11973"/>
                    </a:cubicBezTo>
                    <a:cubicBezTo>
                      <a:pt x="2662669" y="-7857"/>
                      <a:pt x="2817122" y="38043"/>
                      <a:pt x="2905793" y="148536"/>
                    </a:cubicBezTo>
                    <a:cubicBezTo>
                      <a:pt x="3037585" y="14905"/>
                      <a:pt x="3270282" y="-34639"/>
                      <a:pt x="3454166" y="41310"/>
                    </a:cubicBezTo>
                    <a:cubicBezTo>
                      <a:pt x="3579390" y="105190"/>
                      <a:pt x="3707381" y="212185"/>
                      <a:pt x="3732249" y="333833"/>
                    </a:cubicBezTo>
                    <a:cubicBezTo>
                      <a:pt x="3907643" y="370864"/>
                      <a:pt x="4029662" y="497260"/>
                      <a:pt x="4089130" y="617736"/>
                    </a:cubicBezTo>
                    <a:cubicBezTo>
                      <a:pt x="4139906" y="721749"/>
                      <a:pt x="4118649" y="813473"/>
                      <a:pt x="4073156" y="925586"/>
                    </a:cubicBezTo>
                    <a:cubicBezTo>
                      <a:pt x="4204301" y="1059600"/>
                      <a:pt x="4250287" y="1244482"/>
                      <a:pt x="4189844" y="1396282"/>
                    </a:cubicBezTo>
                    <a:cubicBezTo>
                      <a:pt x="4139668" y="1628173"/>
                      <a:pt x="3909969" y="1780050"/>
                      <a:pt x="3643224" y="1808306"/>
                    </a:cubicBezTo>
                    <a:cubicBezTo>
                      <a:pt x="3659031" y="1960922"/>
                      <a:pt x="3557557" y="2055360"/>
                      <a:pt x="3447543" y="2161358"/>
                    </a:cubicBezTo>
                    <a:cubicBezTo>
                      <a:pt x="3257479" y="2299132"/>
                      <a:pt x="3006464" y="2316861"/>
                      <a:pt x="2781313" y="2204105"/>
                    </a:cubicBezTo>
                    <a:cubicBezTo>
                      <a:pt x="2721858" y="2382879"/>
                      <a:pt x="2521668" y="2515978"/>
                      <a:pt x="2305212" y="2580746"/>
                    </a:cubicBezTo>
                    <a:cubicBezTo>
                      <a:pt x="2027910" y="2639050"/>
                      <a:pt x="1758502" y="2547329"/>
                      <a:pt x="1605184" y="2350846"/>
                    </a:cubicBezTo>
                    <a:cubicBezTo>
                      <a:pt x="1205015" y="2488464"/>
                      <a:pt x="780141" y="2425014"/>
                      <a:pt x="565321" y="2123700"/>
                    </a:cubicBezTo>
                    <a:cubicBezTo>
                      <a:pt x="366597" y="2152708"/>
                      <a:pt x="185208" y="2040290"/>
                      <a:pt x="108116" y="1870930"/>
                    </a:cubicBezTo>
                    <a:cubicBezTo>
                      <a:pt x="50884" y="1756351"/>
                      <a:pt x="102613" y="1599318"/>
                      <a:pt x="205810" y="1529732"/>
                    </a:cubicBezTo>
                    <a:cubicBezTo>
                      <a:pt x="61354" y="1447328"/>
                      <a:pt x="-16700" y="1308582"/>
                      <a:pt x="-488" y="1179673"/>
                    </a:cubicBezTo>
                    <a:cubicBezTo>
                      <a:pt x="-14887" y="1017712"/>
                      <a:pt x="184515" y="878046"/>
                      <a:pt x="376263" y="868530"/>
                    </a:cubicBezTo>
                    <a:cubicBezTo>
                      <a:pt x="377824" y="865468"/>
                      <a:pt x="378973" y="863061"/>
                      <a:pt x="379867" y="860328"/>
                    </a:cubicBezTo>
                    <a:close/>
                  </a:path>
                  <a:path w="4207766" h="2586374" fill="none" extrusionOk="0">
                    <a:moveTo>
                      <a:pt x="457107" y="1567210"/>
                    </a:moveTo>
                    <a:cubicBezTo>
                      <a:pt x="372334" y="1570291"/>
                      <a:pt x="293882" y="1546852"/>
                      <a:pt x="210388" y="1519494"/>
                    </a:cubicBezTo>
                    <a:moveTo>
                      <a:pt x="674800" y="2089395"/>
                    </a:moveTo>
                    <a:cubicBezTo>
                      <a:pt x="644509" y="2097997"/>
                      <a:pt x="605043" y="2107639"/>
                      <a:pt x="566879" y="2112205"/>
                    </a:cubicBezTo>
                    <a:moveTo>
                      <a:pt x="1604990" y="2340309"/>
                    </a:moveTo>
                    <a:cubicBezTo>
                      <a:pt x="1580070" y="2313757"/>
                      <a:pt x="1562259" y="2267947"/>
                      <a:pt x="1539925" y="2236135"/>
                    </a:cubicBezTo>
                    <a:moveTo>
                      <a:pt x="2807807" y="2080534"/>
                    </a:moveTo>
                    <a:cubicBezTo>
                      <a:pt x="2807467" y="2119483"/>
                      <a:pt x="2794933" y="2153751"/>
                      <a:pt x="2781800" y="2194825"/>
                    </a:cubicBezTo>
                    <a:moveTo>
                      <a:pt x="3324232" y="1374250"/>
                    </a:moveTo>
                    <a:cubicBezTo>
                      <a:pt x="3512736" y="1454492"/>
                      <a:pt x="3648594" y="1627214"/>
                      <a:pt x="3640886" y="1801481"/>
                    </a:cubicBezTo>
                    <a:moveTo>
                      <a:pt x="4071208" y="919240"/>
                    </a:moveTo>
                    <a:cubicBezTo>
                      <a:pt x="4035140" y="991776"/>
                      <a:pt x="4001812" y="1032187"/>
                      <a:pt x="3930170" y="1079451"/>
                    </a:cubicBezTo>
                    <a:moveTo>
                      <a:pt x="3732833" y="324853"/>
                    </a:moveTo>
                    <a:cubicBezTo>
                      <a:pt x="3739906" y="345704"/>
                      <a:pt x="3744522" y="376820"/>
                      <a:pt x="3740236" y="400528"/>
                    </a:cubicBezTo>
                    <a:moveTo>
                      <a:pt x="2832255" y="236605"/>
                    </a:moveTo>
                    <a:cubicBezTo>
                      <a:pt x="2854579" y="195555"/>
                      <a:pt x="2880826" y="167220"/>
                      <a:pt x="2904527" y="140095"/>
                    </a:cubicBezTo>
                    <a:moveTo>
                      <a:pt x="2156577" y="282585"/>
                    </a:moveTo>
                    <a:cubicBezTo>
                      <a:pt x="2165463" y="253976"/>
                      <a:pt x="2176226" y="230405"/>
                      <a:pt x="2191544" y="199366"/>
                    </a:cubicBezTo>
                    <a:moveTo>
                      <a:pt x="1363627" y="310843"/>
                    </a:moveTo>
                    <a:cubicBezTo>
                      <a:pt x="1405237" y="331714"/>
                      <a:pt x="1460400" y="359926"/>
                      <a:pt x="1490250" y="391548"/>
                    </a:cubicBezTo>
                    <a:moveTo>
                      <a:pt x="401978" y="945283"/>
                    </a:moveTo>
                    <a:cubicBezTo>
                      <a:pt x="391809" y="911681"/>
                      <a:pt x="385787" y="888222"/>
                      <a:pt x="379867" y="860328"/>
                    </a:cubicBezTo>
                  </a:path>
                  <a:path w="4207766" h="2586374" stroke="0" extrusionOk="0">
                    <a:moveTo>
                      <a:pt x="379867" y="860328"/>
                    </a:moveTo>
                    <a:cubicBezTo>
                      <a:pt x="325603" y="680712"/>
                      <a:pt x="406227" y="537402"/>
                      <a:pt x="547691" y="413520"/>
                    </a:cubicBezTo>
                    <a:cubicBezTo>
                      <a:pt x="812021" y="234594"/>
                      <a:pt x="1063800" y="181687"/>
                      <a:pt x="1364114" y="311442"/>
                    </a:cubicBezTo>
                    <a:cubicBezTo>
                      <a:pt x="1522742" y="58645"/>
                      <a:pt x="1936549" y="18529"/>
                      <a:pt x="2187259" y="205473"/>
                    </a:cubicBezTo>
                    <a:cubicBezTo>
                      <a:pt x="2244751" y="98056"/>
                      <a:pt x="2385686" y="36067"/>
                      <a:pt x="2508003" y="11973"/>
                    </a:cubicBezTo>
                    <a:cubicBezTo>
                      <a:pt x="2666842" y="-5336"/>
                      <a:pt x="2822945" y="24566"/>
                      <a:pt x="2905793" y="148536"/>
                    </a:cubicBezTo>
                    <a:cubicBezTo>
                      <a:pt x="3004254" y="10449"/>
                      <a:pt x="3246979" y="-12397"/>
                      <a:pt x="3454166" y="41310"/>
                    </a:cubicBezTo>
                    <a:cubicBezTo>
                      <a:pt x="3597508" y="72067"/>
                      <a:pt x="3692204" y="220224"/>
                      <a:pt x="3732249" y="333833"/>
                    </a:cubicBezTo>
                    <a:cubicBezTo>
                      <a:pt x="3914762" y="380221"/>
                      <a:pt x="4041181" y="480424"/>
                      <a:pt x="4089130" y="617736"/>
                    </a:cubicBezTo>
                    <a:cubicBezTo>
                      <a:pt x="4113476" y="716082"/>
                      <a:pt x="4135187" y="837924"/>
                      <a:pt x="4073156" y="925586"/>
                    </a:cubicBezTo>
                    <a:cubicBezTo>
                      <a:pt x="4199731" y="1064919"/>
                      <a:pt x="4241962" y="1264077"/>
                      <a:pt x="4189844" y="1396282"/>
                    </a:cubicBezTo>
                    <a:cubicBezTo>
                      <a:pt x="4136442" y="1631994"/>
                      <a:pt x="3937785" y="1812389"/>
                      <a:pt x="3643224" y="1808306"/>
                    </a:cubicBezTo>
                    <a:cubicBezTo>
                      <a:pt x="3654424" y="1933116"/>
                      <a:pt x="3575916" y="2047567"/>
                      <a:pt x="3447543" y="2161358"/>
                    </a:cubicBezTo>
                    <a:cubicBezTo>
                      <a:pt x="3217898" y="2303022"/>
                      <a:pt x="2955844" y="2289305"/>
                      <a:pt x="2781313" y="2204105"/>
                    </a:cubicBezTo>
                    <a:cubicBezTo>
                      <a:pt x="2669435" y="2388541"/>
                      <a:pt x="2514883" y="2499452"/>
                      <a:pt x="2305212" y="2580746"/>
                    </a:cubicBezTo>
                    <a:cubicBezTo>
                      <a:pt x="2040890" y="2589414"/>
                      <a:pt x="1738602" y="2554293"/>
                      <a:pt x="1605184" y="2350846"/>
                    </a:cubicBezTo>
                    <a:cubicBezTo>
                      <a:pt x="1218589" y="2578557"/>
                      <a:pt x="785120" y="2438224"/>
                      <a:pt x="565321" y="2123700"/>
                    </a:cubicBezTo>
                    <a:cubicBezTo>
                      <a:pt x="359005" y="2153582"/>
                      <a:pt x="169066" y="2035232"/>
                      <a:pt x="108116" y="1870930"/>
                    </a:cubicBezTo>
                    <a:cubicBezTo>
                      <a:pt x="55378" y="1767848"/>
                      <a:pt x="83221" y="1622161"/>
                      <a:pt x="205810" y="1529732"/>
                    </a:cubicBezTo>
                    <a:cubicBezTo>
                      <a:pt x="69676" y="1476651"/>
                      <a:pt x="-31939" y="1326449"/>
                      <a:pt x="-488" y="1179673"/>
                    </a:cubicBezTo>
                    <a:cubicBezTo>
                      <a:pt x="29173" y="981025"/>
                      <a:pt x="144911" y="883564"/>
                      <a:pt x="376263" y="868530"/>
                    </a:cubicBezTo>
                    <a:cubicBezTo>
                      <a:pt x="377628" y="865945"/>
                      <a:pt x="378619" y="863320"/>
                      <a:pt x="379867" y="860328"/>
                    </a:cubicBezTo>
                    <a:close/>
                  </a:path>
                  <a:path w="4207766" h="2586374" fill="none" stroke="0" extrusionOk="0">
                    <a:moveTo>
                      <a:pt x="457107" y="1567210"/>
                    </a:moveTo>
                    <a:cubicBezTo>
                      <a:pt x="373384" y="1563627"/>
                      <a:pt x="289048" y="1540615"/>
                      <a:pt x="210388" y="1519494"/>
                    </a:cubicBezTo>
                    <a:moveTo>
                      <a:pt x="674800" y="2089395"/>
                    </a:moveTo>
                    <a:cubicBezTo>
                      <a:pt x="639041" y="2106820"/>
                      <a:pt x="599823" y="2104253"/>
                      <a:pt x="566879" y="2112205"/>
                    </a:cubicBezTo>
                    <a:moveTo>
                      <a:pt x="1604990" y="2340309"/>
                    </a:moveTo>
                    <a:cubicBezTo>
                      <a:pt x="1584686" y="2312212"/>
                      <a:pt x="1556666" y="2272856"/>
                      <a:pt x="1539925" y="2236135"/>
                    </a:cubicBezTo>
                    <a:moveTo>
                      <a:pt x="2807807" y="2080534"/>
                    </a:moveTo>
                    <a:cubicBezTo>
                      <a:pt x="2802747" y="2119712"/>
                      <a:pt x="2795089" y="2149934"/>
                      <a:pt x="2781800" y="2194825"/>
                    </a:cubicBezTo>
                    <a:moveTo>
                      <a:pt x="3324232" y="1374250"/>
                    </a:moveTo>
                    <a:cubicBezTo>
                      <a:pt x="3494338" y="1463064"/>
                      <a:pt x="3642312" y="1624906"/>
                      <a:pt x="3640886" y="1801481"/>
                    </a:cubicBezTo>
                    <a:moveTo>
                      <a:pt x="4071208" y="919240"/>
                    </a:moveTo>
                    <a:cubicBezTo>
                      <a:pt x="4033124" y="975392"/>
                      <a:pt x="3997380" y="1036414"/>
                      <a:pt x="3930170" y="1079451"/>
                    </a:cubicBezTo>
                    <a:moveTo>
                      <a:pt x="3732833" y="324853"/>
                    </a:moveTo>
                    <a:cubicBezTo>
                      <a:pt x="3737489" y="349752"/>
                      <a:pt x="3736597" y="376950"/>
                      <a:pt x="3740236" y="400528"/>
                    </a:cubicBezTo>
                    <a:moveTo>
                      <a:pt x="2832255" y="236605"/>
                    </a:moveTo>
                    <a:cubicBezTo>
                      <a:pt x="2849573" y="200430"/>
                      <a:pt x="2875336" y="163882"/>
                      <a:pt x="2904527" y="140095"/>
                    </a:cubicBezTo>
                    <a:moveTo>
                      <a:pt x="2156577" y="282585"/>
                    </a:moveTo>
                    <a:cubicBezTo>
                      <a:pt x="2162139" y="256543"/>
                      <a:pt x="2174054" y="230285"/>
                      <a:pt x="2191544" y="199366"/>
                    </a:cubicBezTo>
                    <a:moveTo>
                      <a:pt x="1363627" y="310843"/>
                    </a:moveTo>
                    <a:cubicBezTo>
                      <a:pt x="1403119" y="334911"/>
                      <a:pt x="1454041" y="365887"/>
                      <a:pt x="1490250" y="391548"/>
                    </a:cubicBezTo>
                    <a:moveTo>
                      <a:pt x="401978" y="945283"/>
                    </a:moveTo>
                    <a:cubicBezTo>
                      <a:pt x="390246" y="917209"/>
                      <a:pt x="384410" y="885692"/>
                      <a:pt x="379867" y="860328"/>
                    </a:cubicBezTo>
                  </a:path>
                </a:pathLst>
              </a:custGeom>
              <a:solidFill>
                <a:srgbClr val="7030A0">
                  <a:alpha val="17000"/>
                </a:srgbClr>
              </a:solidFill>
              <a:ln>
                <a:solidFill>
                  <a:srgbClr val="7030A0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3608148" y="2864906"/>
                <a:ext cx="1287654" cy="487338"/>
              </a:xfrm>
              <a:prstGeom prst="ellipse">
                <a:avLst/>
              </a:prstGeom>
              <a:solidFill>
                <a:srgbClr val="FFC000">
                  <a:alpha val="38945"/>
                </a:srgbClr>
              </a:solidFill>
              <a:ln>
                <a:solidFill>
                  <a:srgbClr val="FFC000">
                    <a:alpha val="4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50"/>
              </a:p>
            </p:txBody>
          </p:sp>
          <p:sp useBgFill="1">
            <p:nvSpPr>
              <p:cNvPr id="129" name="TextBox 128"/>
              <p:cNvSpPr txBox="1"/>
              <p:nvPr/>
            </p:nvSpPr>
            <p:spPr>
              <a:xfrm>
                <a:off x="4241342" y="2419694"/>
                <a:ext cx="1668604" cy="505129"/>
              </a:xfrm>
              <a:prstGeom prst="rect">
                <a:avLst/>
              </a:prstGeom>
              <a:ln w="47625" cap="sq">
                <a:solidFill>
                  <a:srgbClr val="C00000"/>
                </a:solidFill>
                <a:round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C00000"/>
                    </a:solidFill>
                  </a:rPr>
                  <a:t>Small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800" dirty="0">
                    <a:solidFill>
                      <a:srgbClr val="C00000"/>
                    </a:solidFill>
                  </a:rPr>
                  <a:t>change: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800" dirty="0">
                    <a:solidFill>
                      <a:srgbClr val="C00000"/>
                    </a:solidFill>
                  </a:rPr>
                  <a:t>transition/reward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 </a:t>
                </a:r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124" name="TextBox 123"/>
            <p:cNvSpPr txBox="1"/>
            <p:nvPr/>
          </p:nvSpPr>
          <p:spPr>
            <a:xfrm>
              <a:off x="11375608" y="6926885"/>
              <a:ext cx="2587339" cy="564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/>
                <a:t>batch dataset</a:t>
              </a:r>
              <a:endParaRPr lang="en-US" altLang="zh-CN" sz="2800" dirty="0"/>
            </a:p>
          </p:txBody>
        </p:sp>
      </p:grpSp>
      <p:pic>
        <p:nvPicPr>
          <p:cNvPr id="125" name="Picture 1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80864" y="7549510"/>
            <a:ext cx="215338" cy="230077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3113" y="9135626"/>
            <a:ext cx="10912200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sym typeface="+mn-ea"/>
              </a:rPr>
              <a:t>Challenge II:</a:t>
            </a:r>
            <a:r>
              <a:rPr lang="zh-CN" altLang="en-US" sz="3200" b="1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sym typeface="+mn-ea"/>
              </a:rPr>
              <a:t>safety constraint</a:t>
            </a:r>
            <a:endParaRPr lang="en-US" sz="3200" b="1" dirty="0">
              <a:solidFill>
                <a:srgbClr val="C00000"/>
              </a:solidFill>
            </a:endParaRPr>
          </a:p>
          <a:p>
            <a:r>
              <a:rPr lang="en-US" sz="3200" b="1" dirty="0">
                <a:solidFill>
                  <a:srgbClr val="C00000"/>
                </a:solidFill>
              </a:rPr>
              <a:t>Challenge III:</a:t>
            </a:r>
            <a:r>
              <a:rPr lang="zh-CN" altLang="en-US" sz="3200" b="1" dirty="0">
                <a:solidFill>
                  <a:srgbClr val="C00000"/>
                </a:solidFill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</a:rPr>
              <a:t>sample complexity blows up for large state space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3024505" y="10212705"/>
            <a:ext cx="12319635" cy="1938655"/>
          </a:xfrm>
          <a:prstGeom prst="roundRect">
            <a:avLst/>
          </a:prstGeom>
          <a:solidFill>
            <a:srgbClr val="C00000">
              <a:alpha val="1812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i="1" dirty="0">
                <a:solidFill>
                  <a:schemeClr val="tx1"/>
                </a:solidFill>
              </a:rPr>
              <a:t>Can</a:t>
            </a:r>
            <a:r>
              <a:rPr lang="zh-CN" altLang="en-US" sz="4000" i="1" dirty="0">
                <a:solidFill>
                  <a:schemeClr val="tx1"/>
                </a:solidFill>
              </a:rPr>
              <a:t> </a:t>
            </a:r>
            <a:r>
              <a:rPr lang="en-US" altLang="zh-CN" sz="4000" i="1" dirty="0">
                <a:solidFill>
                  <a:schemeClr val="tx1"/>
                </a:solidFill>
              </a:rPr>
              <a:t>we</a:t>
            </a:r>
            <a:r>
              <a:rPr lang="zh-CN" altLang="en-US" sz="4000" i="1" dirty="0">
                <a:solidFill>
                  <a:schemeClr val="tx1"/>
                </a:solidFill>
              </a:rPr>
              <a:t> </a:t>
            </a:r>
            <a:r>
              <a:rPr lang="en-US" altLang="zh-CN" sz="4000" i="1" dirty="0">
                <a:solidFill>
                  <a:schemeClr val="tx1"/>
                </a:solidFill>
              </a:rPr>
              <a:t>design a </a:t>
            </a:r>
            <a:r>
              <a:rPr lang="en-US" altLang="zh-CN" sz="4000" b="1" i="1" dirty="0">
                <a:solidFill>
                  <a:schemeClr val="tx1"/>
                </a:solidFill>
              </a:rPr>
              <a:t>sample-efficient</a:t>
            </a:r>
            <a:r>
              <a:rPr lang="en-US" altLang="zh-CN" sz="4000" i="1" dirty="0">
                <a:solidFill>
                  <a:schemeClr val="tx1"/>
                </a:solidFill>
              </a:rPr>
              <a:t> algorithm that is </a:t>
            </a:r>
            <a:r>
              <a:rPr lang="en-US" altLang="zh-CN" sz="4000" b="1" i="1" dirty="0">
                <a:solidFill>
                  <a:schemeClr val="tx1"/>
                </a:solidFill>
              </a:rPr>
              <a:t>robust to the sim-to-real gap and ensures constraint satisfcation,</a:t>
            </a:r>
            <a:r>
              <a:rPr lang="en-US" altLang="zh-CN" sz="4000" i="1" dirty="0">
                <a:solidFill>
                  <a:schemeClr val="tx1"/>
                </a:solidFill>
              </a:rPr>
              <a:t> even for </a:t>
            </a:r>
            <a:r>
              <a:rPr lang="en-US" altLang="zh-CN" sz="4000" b="1" i="1" dirty="0">
                <a:solidFill>
                  <a:schemeClr val="tx1"/>
                </a:solidFill>
              </a:rPr>
              <a:t>large state space? </a:t>
            </a:r>
            <a:endParaRPr lang="en-US" sz="4000" b="1" i="1" dirty="0">
              <a:solidFill>
                <a:schemeClr val="tx1"/>
              </a:solidFill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813435" y="12320905"/>
            <a:ext cx="15173960" cy="8204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/>
              <a:t>Problem Formulation</a:t>
            </a:r>
            <a:endParaRPr lang="en-US" sz="5600" b="1" dirty="0"/>
          </a:p>
        </p:txBody>
      </p:sp>
      <p:sp>
        <p:nvSpPr>
          <p:cNvPr id="147" name="TextBox 146"/>
          <p:cNvSpPr txBox="1"/>
          <p:nvPr/>
        </p:nvSpPr>
        <p:spPr>
          <a:xfrm>
            <a:off x="696869" y="13198075"/>
            <a:ext cx="107302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Lin-R</a:t>
            </a:r>
            <a:r>
              <a:rPr lang="en-US" altLang="zh-CN" sz="4000" b="1" dirty="0"/>
              <a:t>C</a:t>
            </a:r>
            <a:r>
              <a:rPr lang="en-US" sz="4000" b="1" dirty="0"/>
              <a:t>MDPs: distributionally robust linear CMDPs</a:t>
            </a:r>
            <a:endParaRPr lang="en-US" sz="4000" b="1" dirty="0"/>
          </a:p>
        </p:txBody>
      </p:sp>
      <p:grpSp>
        <p:nvGrpSpPr>
          <p:cNvPr id="170" name="Group 169"/>
          <p:cNvGrpSpPr/>
          <p:nvPr/>
        </p:nvGrpSpPr>
        <p:grpSpPr>
          <a:xfrm>
            <a:off x="879773" y="15139640"/>
            <a:ext cx="15070377" cy="1323439"/>
            <a:chOff x="935593" y="14615547"/>
            <a:chExt cx="15070377" cy="1323439"/>
          </a:xfrm>
        </p:grpSpPr>
        <p:sp>
          <p:nvSpPr>
            <p:cNvPr id="149" name="Triangle 148"/>
            <p:cNvSpPr>
              <a:spLocks noChangeAspect="1"/>
            </p:cNvSpPr>
            <p:nvPr/>
          </p:nvSpPr>
          <p:spPr>
            <a:xfrm rot="5400000">
              <a:off x="915793" y="14855514"/>
              <a:ext cx="237600" cy="198000"/>
            </a:xfrm>
            <a:prstGeom prst="triangl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322694" y="14615547"/>
              <a:ext cx="1468327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Linear representations</a:t>
              </a:r>
              <a:r>
                <a:rPr lang="en-US" sz="4000" dirty="0"/>
                <a:t>: The reward function and nominal transition kernel are decomposed as</a:t>
              </a:r>
              <a:endParaRPr lang="en-US" sz="4000" dirty="0"/>
            </a:p>
          </p:txBody>
        </p:sp>
      </p:grpSp>
      <p:sp>
        <p:nvSpPr>
          <p:cNvPr id="155" name="Rounded Rectangle 154"/>
          <p:cNvSpPr/>
          <p:nvPr/>
        </p:nvSpPr>
        <p:spPr>
          <a:xfrm>
            <a:off x="6767830" y="7675245"/>
            <a:ext cx="4055110" cy="1487805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6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0060"/>
            <a:r>
              <a:rPr lang="en-US" altLang="zh-CN" sz="2800" b="1" dirty="0">
                <a:solidFill>
                  <a:prstClr val="black"/>
                </a:solidFill>
                <a:latin typeface="Calibri" panose="020F0502020204030204"/>
              </a:rPr>
              <a:t>Robust Constrained</a:t>
            </a:r>
            <a:r>
              <a:rPr lang="zh-CN" altLang="en-US" sz="28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latin typeface="Calibri" panose="020F0502020204030204"/>
              </a:rPr>
              <a:t>RL:</a:t>
            </a:r>
            <a:r>
              <a:rPr lang="zh-CN" altLang="en-US" sz="28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Learn the </a:t>
            </a:r>
            <a:r>
              <a:rPr lang="en-US" sz="2800" b="1" dirty="0">
                <a:solidFill>
                  <a:prstClr val="black"/>
                </a:solidFill>
                <a:latin typeface="Calibri" panose="020F0502020204030204"/>
              </a:rPr>
              <a:t>robust and safe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policy around the nominal MDP?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6" name="Straight Arrow Connector 155"/>
          <p:cNvCxnSpPr/>
          <p:nvPr/>
        </p:nvCxnSpPr>
        <p:spPr>
          <a:xfrm>
            <a:off x="5974336" y="7765276"/>
            <a:ext cx="628612" cy="572514"/>
          </a:xfrm>
          <a:prstGeom prst="straightConnector1">
            <a:avLst/>
          </a:prstGeom>
          <a:ln w="44450">
            <a:solidFill>
              <a:schemeClr val="accent2">
                <a:lumMod val="50000"/>
              </a:schemeClr>
            </a:solidFill>
            <a:prstDash val="sys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/>
          <p:cNvGrpSpPr/>
          <p:nvPr/>
        </p:nvGrpSpPr>
        <p:grpSpPr>
          <a:xfrm>
            <a:off x="935701" y="19890812"/>
            <a:ext cx="12581007" cy="707886"/>
            <a:chOff x="902066" y="20089206"/>
            <a:chExt cx="12581007" cy="707886"/>
          </a:xfrm>
        </p:grpSpPr>
        <p:sp>
          <p:nvSpPr>
            <p:cNvPr id="165" name="Triangle 164"/>
            <p:cNvSpPr>
              <a:spLocks noChangeAspect="1"/>
            </p:cNvSpPr>
            <p:nvPr/>
          </p:nvSpPr>
          <p:spPr>
            <a:xfrm rot="5400000">
              <a:off x="882266" y="20415766"/>
              <a:ext cx="237600" cy="198000"/>
            </a:xfrm>
            <a:prstGeom prst="triangl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1206699" y="20089206"/>
              <a:ext cx="1227637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The uncertainty set satisfies d-rectangularity assumption:</a:t>
              </a:r>
              <a:endParaRPr lang="en-US" sz="4000" b="1" dirty="0"/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1013895" y="4948702"/>
            <a:ext cx="8889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Offline RL: Learning a good policy from batch data  </a:t>
            </a:r>
            <a:endParaRPr lang="en-US" sz="3200" b="1" dirty="0"/>
          </a:p>
        </p:txBody>
      </p:sp>
      <p:sp>
        <p:nvSpPr>
          <p:cNvPr id="191" name="Rounded Rectangle 190"/>
          <p:cNvSpPr/>
          <p:nvPr/>
        </p:nvSpPr>
        <p:spPr>
          <a:xfrm>
            <a:off x="16818949" y="10211939"/>
            <a:ext cx="15490924" cy="82073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/>
              <a:t>Performance Guarantees for DROP</a:t>
            </a:r>
            <a:endParaRPr lang="en-US" sz="5600" b="1" dirty="0"/>
          </a:p>
        </p:txBody>
      </p:sp>
      <p:grpSp>
        <p:nvGrpSpPr>
          <p:cNvPr id="194" name="Group 193"/>
          <p:cNvGrpSpPr/>
          <p:nvPr/>
        </p:nvGrpSpPr>
        <p:grpSpPr>
          <a:xfrm>
            <a:off x="864789" y="34609095"/>
            <a:ext cx="16270754" cy="1322070"/>
            <a:chOff x="17250478" y="19265045"/>
            <a:chExt cx="16270754" cy="1322070"/>
          </a:xfrm>
        </p:grpSpPr>
        <p:grpSp>
          <p:nvGrpSpPr>
            <p:cNvPr id="187" name="Group 186"/>
            <p:cNvGrpSpPr/>
            <p:nvPr/>
          </p:nvGrpSpPr>
          <p:grpSpPr>
            <a:xfrm>
              <a:off x="17250478" y="19343577"/>
              <a:ext cx="293021" cy="584775"/>
              <a:chOff x="1178327" y="20181077"/>
              <a:chExt cx="293021" cy="584775"/>
            </a:xfrm>
          </p:grpSpPr>
          <p:sp>
            <p:nvSpPr>
              <p:cNvPr id="188" name="Triangle 187"/>
              <p:cNvSpPr>
                <a:spLocks noChangeAspect="1"/>
              </p:cNvSpPr>
              <p:nvPr/>
            </p:nvSpPr>
            <p:spPr>
              <a:xfrm rot="5400000">
                <a:off x="1158527" y="20362263"/>
                <a:ext cx="237600" cy="198000"/>
              </a:xfrm>
              <a:prstGeom prst="triangl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TextBox 188"/>
              <p:cNvSpPr txBox="1"/>
              <p:nvPr/>
            </p:nvSpPr>
            <p:spPr>
              <a:xfrm>
                <a:off x="1286617" y="20181077"/>
                <a:ext cx="1847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3200" b="1" dirty="0"/>
              </a:p>
            </p:txBody>
          </p:sp>
        </p:grpSp>
        <p:sp>
          <p:nvSpPr>
            <p:cNvPr id="193" name="TextBox 192"/>
            <p:cNvSpPr txBox="1"/>
            <p:nvPr/>
          </p:nvSpPr>
          <p:spPr>
            <a:xfrm>
              <a:off x="17662107" y="19265045"/>
              <a:ext cx="15859125" cy="13220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4000" b="1" dirty="0"/>
                <a:t>Step 1: </a:t>
              </a:r>
              <a:r>
                <a:rPr lang="en-US" sz="4000" b="1" dirty="0">
                  <a:effectLst/>
                  <a:highlight>
                    <a:srgbClr val="FFFFFF"/>
                  </a:highlight>
                </a:rPr>
                <a:t>construct a </a:t>
              </a:r>
              <a:r>
                <a:rPr lang="en-US" sz="4000" b="1" dirty="0">
                  <a:highlight>
                    <a:srgbClr val="FFFFFF"/>
                  </a:highlight>
                  <a:sym typeface="+mn-ea"/>
                </a:rPr>
                <a:t>rectified dual form for the original constrained problem</a:t>
              </a:r>
              <a:endParaRPr lang="en-US" sz="4000" dirty="0">
                <a:highlight>
                  <a:srgbClr val="FFFFFF"/>
                </a:highlight>
              </a:endParaRPr>
            </a:p>
            <a:p>
              <a:pPr algn="l"/>
              <a:r>
                <a:rPr lang="en-US" sz="4000" b="1" dirty="0">
                  <a:effectLst/>
                  <a:highlight>
                    <a:srgbClr val="FFFFFF"/>
                  </a:highlight>
                </a:rPr>
                <a:t> </a:t>
              </a:r>
              <a:endParaRPr lang="en-US" sz="4000" b="1" dirty="0">
                <a:effectLst/>
                <a:highlight>
                  <a:srgbClr val="FFFFFF"/>
                </a:highlight>
              </a:endParaRPr>
            </a:p>
          </p:txBody>
        </p:sp>
      </p:grpSp>
      <p:grpSp>
        <p:nvGrpSpPr>
          <p:cNvPr id="214" name="Group 213"/>
          <p:cNvGrpSpPr/>
          <p:nvPr/>
        </p:nvGrpSpPr>
        <p:grpSpPr>
          <a:xfrm>
            <a:off x="27104458" y="20682042"/>
            <a:ext cx="5617092" cy="3539316"/>
            <a:chOff x="19028050" y="4478323"/>
            <a:chExt cx="6496869" cy="4351353"/>
          </a:xfrm>
        </p:grpSpPr>
        <p:grpSp>
          <p:nvGrpSpPr>
            <p:cNvPr id="215" name="Group 214"/>
            <p:cNvGrpSpPr/>
            <p:nvPr/>
          </p:nvGrpSpPr>
          <p:grpSpPr>
            <a:xfrm>
              <a:off x="19404092" y="4478323"/>
              <a:ext cx="6120827" cy="4351353"/>
              <a:chOff x="3677560" y="311735"/>
              <a:chExt cx="6120827" cy="4351353"/>
            </a:xfrm>
          </p:grpSpPr>
          <p:sp>
            <p:nvSpPr>
              <p:cNvPr id="219" name="Cloud 218"/>
              <p:cNvSpPr/>
              <p:nvPr/>
            </p:nvSpPr>
            <p:spPr>
              <a:xfrm>
                <a:off x="3677560" y="311735"/>
                <a:ext cx="5903843" cy="3856381"/>
              </a:xfrm>
              <a:custGeom>
                <a:avLst/>
                <a:gdLst>
                  <a:gd name="connsiteX0" fmla="*/ 460811 w 5104371"/>
                  <a:gd name="connsiteY0" fmla="*/ 1043393 h 3136714"/>
                  <a:gd name="connsiteX1" fmla="*/ 664395 w 5104371"/>
                  <a:gd name="connsiteY1" fmla="*/ 501511 h 3136714"/>
                  <a:gd name="connsiteX2" fmla="*/ 1654785 w 5104371"/>
                  <a:gd name="connsiteY2" fmla="*/ 377712 h 3136714"/>
                  <a:gd name="connsiteX3" fmla="*/ 2653327 w 5104371"/>
                  <a:gd name="connsiteY3" fmla="*/ 249194 h 3136714"/>
                  <a:gd name="connsiteX4" fmla="*/ 3042417 w 5104371"/>
                  <a:gd name="connsiteY4" fmla="*/ 14521 h 3136714"/>
                  <a:gd name="connsiteX5" fmla="*/ 3524969 w 5104371"/>
                  <a:gd name="connsiteY5" fmla="*/ 180143 h 3136714"/>
                  <a:gd name="connsiteX6" fmla="*/ 4190192 w 5104371"/>
                  <a:gd name="connsiteY6" fmla="*/ 50100 h 3136714"/>
                  <a:gd name="connsiteX7" fmla="*/ 4527529 w 5104371"/>
                  <a:gd name="connsiteY7" fmla="*/ 404868 h 3136714"/>
                  <a:gd name="connsiteX8" fmla="*/ 4960456 w 5104371"/>
                  <a:gd name="connsiteY8" fmla="*/ 749180 h 3136714"/>
                  <a:gd name="connsiteX9" fmla="*/ 4941078 w 5104371"/>
                  <a:gd name="connsiteY9" fmla="*/ 1122537 h 3136714"/>
                  <a:gd name="connsiteX10" fmla="*/ 5082630 w 5104371"/>
                  <a:gd name="connsiteY10" fmla="*/ 1693389 h 3136714"/>
                  <a:gd name="connsiteX11" fmla="*/ 4419534 w 5104371"/>
                  <a:gd name="connsiteY11" fmla="*/ 2193085 h 3136714"/>
                  <a:gd name="connsiteX12" fmla="*/ 4182157 w 5104371"/>
                  <a:gd name="connsiteY12" fmla="*/ 2621261 h 3136714"/>
                  <a:gd name="connsiteX13" fmla="*/ 3373965 w 5104371"/>
                  <a:gd name="connsiteY13" fmla="*/ 2673104 h 3136714"/>
                  <a:gd name="connsiteX14" fmla="*/ 2796415 w 5104371"/>
                  <a:gd name="connsiteY14" fmla="*/ 3129888 h 3136714"/>
                  <a:gd name="connsiteX15" fmla="*/ 1947223 w 5104371"/>
                  <a:gd name="connsiteY15" fmla="*/ 2851069 h 3136714"/>
                  <a:gd name="connsiteX16" fmla="*/ 685781 w 5104371"/>
                  <a:gd name="connsiteY16" fmla="*/ 2575590 h 3136714"/>
                  <a:gd name="connsiteX17" fmla="*/ 131153 w 5104371"/>
                  <a:gd name="connsiteY17" fmla="*/ 2269035 h 3136714"/>
                  <a:gd name="connsiteX18" fmla="*/ 249665 w 5104371"/>
                  <a:gd name="connsiteY18" fmla="*/ 1855235 h 3136714"/>
                  <a:gd name="connsiteX19" fmla="*/ -591 w 5104371"/>
                  <a:gd name="connsiteY19" fmla="*/ 1430690 h 3136714"/>
                  <a:gd name="connsiteX20" fmla="*/ 456439 w 5104371"/>
                  <a:gd name="connsiteY20" fmla="*/ 1053340 h 3136714"/>
                  <a:gd name="connsiteX21" fmla="*/ 460811 w 5104371"/>
                  <a:gd name="connsiteY21" fmla="*/ 1043393 h 3136714"/>
                  <a:gd name="connsiteX0-1" fmla="*/ 554509 w 5104371"/>
                  <a:gd name="connsiteY0-2" fmla="*/ 1900688 h 3136714"/>
                  <a:gd name="connsiteX1-3" fmla="*/ 255218 w 5104371"/>
                  <a:gd name="connsiteY1-4" fmla="*/ 1842819 h 3136714"/>
                  <a:gd name="connsiteX2-5" fmla="*/ 818589 w 5104371"/>
                  <a:gd name="connsiteY2-6" fmla="*/ 2533985 h 3136714"/>
                  <a:gd name="connsiteX3-7" fmla="*/ 687672 w 5104371"/>
                  <a:gd name="connsiteY3-8" fmla="*/ 2561649 h 3136714"/>
                  <a:gd name="connsiteX4-9" fmla="*/ 1946986 w 5104371"/>
                  <a:gd name="connsiteY4-10" fmla="*/ 2838290 h 3136714"/>
                  <a:gd name="connsiteX5-11" fmla="*/ 1868057 w 5104371"/>
                  <a:gd name="connsiteY5-12" fmla="*/ 2711950 h 3136714"/>
                  <a:gd name="connsiteX6-13" fmla="*/ 3406104 w 5104371"/>
                  <a:gd name="connsiteY6-14" fmla="*/ 2523239 h 3136714"/>
                  <a:gd name="connsiteX7-15" fmla="*/ 3374556 w 5104371"/>
                  <a:gd name="connsiteY7-16" fmla="*/ 2661850 h 3136714"/>
                  <a:gd name="connsiteX8-17" fmla="*/ 4032571 w 5104371"/>
                  <a:gd name="connsiteY8-18" fmla="*/ 1666669 h 3136714"/>
                  <a:gd name="connsiteX9-19" fmla="*/ 4416698 w 5104371"/>
                  <a:gd name="connsiteY9-20" fmla="*/ 2184808 h 3136714"/>
                  <a:gd name="connsiteX10-21" fmla="*/ 4938715 w 5104371"/>
                  <a:gd name="connsiteY10-22" fmla="*/ 1114840 h 3136714"/>
                  <a:gd name="connsiteX11-23" fmla="*/ 4767624 w 5104371"/>
                  <a:gd name="connsiteY11-24" fmla="*/ 1309142 h 3136714"/>
                  <a:gd name="connsiteX12-25" fmla="*/ 4528238 w 5104371"/>
                  <a:gd name="connsiteY12-26" fmla="*/ 393977 h 3136714"/>
                  <a:gd name="connsiteX13-27" fmla="*/ 4537218 w 5104371"/>
                  <a:gd name="connsiteY13-28" fmla="*/ 485755 h 3136714"/>
                  <a:gd name="connsiteX14-29" fmla="*/ 3435761 w 5104371"/>
                  <a:gd name="connsiteY14-30" fmla="*/ 286951 h 3136714"/>
                  <a:gd name="connsiteX15-31" fmla="*/ 3523433 w 5104371"/>
                  <a:gd name="connsiteY15-32" fmla="*/ 169905 h 3136714"/>
                  <a:gd name="connsiteX16-33" fmla="*/ 2616108 w 5104371"/>
                  <a:gd name="connsiteY16-34" fmla="*/ 342715 h 3136714"/>
                  <a:gd name="connsiteX17-35" fmla="*/ 2658526 w 5104371"/>
                  <a:gd name="connsiteY17-36" fmla="*/ 241788 h 3136714"/>
                  <a:gd name="connsiteX18-37" fmla="*/ 1654194 w 5104371"/>
                  <a:gd name="connsiteY18-38" fmla="*/ 376986 h 3136714"/>
                  <a:gd name="connsiteX19-39" fmla="*/ 1807798 w 5104371"/>
                  <a:gd name="connsiteY19-40" fmla="*/ 474863 h 3136714"/>
                  <a:gd name="connsiteX20-41" fmla="*/ 487632 w 5104371"/>
                  <a:gd name="connsiteY20-42" fmla="*/ 1146425 h 3136714"/>
                  <a:gd name="connsiteX21-43" fmla="*/ 460811 w 5104371"/>
                  <a:gd name="connsiteY21-44" fmla="*/ 1043393 h 31367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</a:cxnLst>
                <a:rect l="l" t="t" r="r" b="b"/>
                <a:pathLst>
                  <a:path w="5104371" h="3136714" fill="none" extrusionOk="0">
                    <a:moveTo>
                      <a:pt x="460811" y="1043393"/>
                    </a:moveTo>
                    <a:cubicBezTo>
                      <a:pt x="422087" y="859860"/>
                      <a:pt x="482357" y="619738"/>
                      <a:pt x="664395" y="501511"/>
                    </a:cubicBezTo>
                    <a:cubicBezTo>
                      <a:pt x="933248" y="275109"/>
                      <a:pt x="1329746" y="194759"/>
                      <a:pt x="1654785" y="377712"/>
                    </a:cubicBezTo>
                    <a:cubicBezTo>
                      <a:pt x="1891022" y="90294"/>
                      <a:pt x="2296743" y="13936"/>
                      <a:pt x="2653327" y="249194"/>
                    </a:cubicBezTo>
                    <a:cubicBezTo>
                      <a:pt x="2725888" y="132110"/>
                      <a:pt x="2870417" y="21504"/>
                      <a:pt x="3042417" y="14521"/>
                    </a:cubicBezTo>
                    <a:cubicBezTo>
                      <a:pt x="3244742" y="-20573"/>
                      <a:pt x="3422474" y="37333"/>
                      <a:pt x="3524969" y="180143"/>
                    </a:cubicBezTo>
                    <a:cubicBezTo>
                      <a:pt x="3675855" y="14630"/>
                      <a:pt x="3965353" y="-40270"/>
                      <a:pt x="4190192" y="50100"/>
                    </a:cubicBezTo>
                    <a:cubicBezTo>
                      <a:pt x="4348429" y="124026"/>
                      <a:pt x="4494786" y="250356"/>
                      <a:pt x="4527529" y="404868"/>
                    </a:cubicBezTo>
                    <a:cubicBezTo>
                      <a:pt x="4736120" y="450607"/>
                      <a:pt x="4886437" y="610105"/>
                      <a:pt x="4960456" y="749180"/>
                    </a:cubicBezTo>
                    <a:cubicBezTo>
                      <a:pt x="5016207" y="873652"/>
                      <a:pt x="4994377" y="980407"/>
                      <a:pt x="4941078" y="1122537"/>
                    </a:cubicBezTo>
                    <a:cubicBezTo>
                      <a:pt x="5127184" y="1285925"/>
                      <a:pt x="5169391" y="1523216"/>
                      <a:pt x="5082630" y="1693389"/>
                    </a:cubicBezTo>
                    <a:cubicBezTo>
                      <a:pt x="5011693" y="1964984"/>
                      <a:pt x="4750377" y="2176563"/>
                      <a:pt x="4419534" y="2193085"/>
                    </a:cubicBezTo>
                    <a:cubicBezTo>
                      <a:pt x="4434750" y="2374262"/>
                      <a:pt x="4323462" y="2503199"/>
                      <a:pt x="4182157" y="2621261"/>
                    </a:cubicBezTo>
                    <a:cubicBezTo>
                      <a:pt x="3922953" y="2816782"/>
                      <a:pt x="3646958" y="2809824"/>
                      <a:pt x="3373965" y="2673104"/>
                    </a:cubicBezTo>
                    <a:cubicBezTo>
                      <a:pt x="3316871" y="2873864"/>
                      <a:pt x="3046778" y="3029514"/>
                      <a:pt x="2796415" y="3129888"/>
                    </a:cubicBezTo>
                    <a:cubicBezTo>
                      <a:pt x="2456946" y="3202030"/>
                      <a:pt x="2133900" y="3099722"/>
                      <a:pt x="1947223" y="2851069"/>
                    </a:cubicBezTo>
                    <a:cubicBezTo>
                      <a:pt x="1454542" y="3009673"/>
                      <a:pt x="977575" y="2907259"/>
                      <a:pt x="685781" y="2575590"/>
                    </a:cubicBezTo>
                    <a:cubicBezTo>
                      <a:pt x="445117" y="2611270"/>
                      <a:pt x="205623" y="2471166"/>
                      <a:pt x="131153" y="2269035"/>
                    </a:cubicBezTo>
                    <a:cubicBezTo>
                      <a:pt x="74936" y="2125244"/>
                      <a:pt x="124710" y="1947623"/>
                      <a:pt x="249665" y="1855235"/>
                    </a:cubicBezTo>
                    <a:cubicBezTo>
                      <a:pt x="76525" y="1734095"/>
                      <a:pt x="-23382" y="1596259"/>
                      <a:pt x="-591" y="1430690"/>
                    </a:cubicBezTo>
                    <a:cubicBezTo>
                      <a:pt x="-17007" y="1234183"/>
                      <a:pt x="236974" y="1044418"/>
                      <a:pt x="456439" y="1053340"/>
                    </a:cubicBezTo>
                    <a:cubicBezTo>
                      <a:pt x="458382" y="1049587"/>
                      <a:pt x="459986" y="1046687"/>
                      <a:pt x="460811" y="1043393"/>
                    </a:cubicBezTo>
                    <a:close/>
                  </a:path>
                  <a:path w="5104371" h="3136714" fill="none" extrusionOk="0">
                    <a:moveTo>
                      <a:pt x="554509" y="1900688"/>
                    </a:moveTo>
                    <a:cubicBezTo>
                      <a:pt x="453943" y="1900079"/>
                      <a:pt x="355994" y="1876525"/>
                      <a:pt x="255218" y="1842819"/>
                    </a:cubicBezTo>
                    <a:moveTo>
                      <a:pt x="818589" y="2533985"/>
                    </a:moveTo>
                    <a:cubicBezTo>
                      <a:pt x="779606" y="2545959"/>
                      <a:pt x="737436" y="2553178"/>
                      <a:pt x="687672" y="2561649"/>
                    </a:cubicBezTo>
                    <a:moveTo>
                      <a:pt x="1946986" y="2838290"/>
                    </a:moveTo>
                    <a:cubicBezTo>
                      <a:pt x="1916068" y="2802201"/>
                      <a:pt x="1894782" y="2750874"/>
                      <a:pt x="1868057" y="2711950"/>
                    </a:cubicBezTo>
                    <a:moveTo>
                      <a:pt x="3406104" y="2523239"/>
                    </a:moveTo>
                    <a:cubicBezTo>
                      <a:pt x="3408867" y="2570670"/>
                      <a:pt x="3390533" y="2612611"/>
                      <a:pt x="3374556" y="2661850"/>
                    </a:cubicBezTo>
                    <a:moveTo>
                      <a:pt x="4032571" y="1666669"/>
                    </a:moveTo>
                    <a:cubicBezTo>
                      <a:pt x="4237487" y="1766594"/>
                      <a:pt x="4426109" y="1973534"/>
                      <a:pt x="4416698" y="2184808"/>
                    </a:cubicBezTo>
                    <a:moveTo>
                      <a:pt x="4938715" y="1114840"/>
                    </a:moveTo>
                    <a:cubicBezTo>
                      <a:pt x="4899436" y="1191912"/>
                      <a:pt x="4842993" y="1255873"/>
                      <a:pt x="4767624" y="1309142"/>
                    </a:cubicBezTo>
                    <a:moveTo>
                      <a:pt x="4528238" y="393977"/>
                    </a:moveTo>
                    <a:cubicBezTo>
                      <a:pt x="4535208" y="423124"/>
                      <a:pt x="4543050" y="457281"/>
                      <a:pt x="4537218" y="485755"/>
                    </a:cubicBezTo>
                    <a:moveTo>
                      <a:pt x="3435761" y="286951"/>
                    </a:moveTo>
                    <a:cubicBezTo>
                      <a:pt x="3460944" y="240145"/>
                      <a:pt x="3496069" y="202340"/>
                      <a:pt x="3523433" y="169905"/>
                    </a:cubicBezTo>
                    <a:moveTo>
                      <a:pt x="2616108" y="342715"/>
                    </a:moveTo>
                    <a:cubicBezTo>
                      <a:pt x="2627303" y="308092"/>
                      <a:pt x="2639793" y="277508"/>
                      <a:pt x="2658526" y="241788"/>
                    </a:cubicBezTo>
                    <a:moveTo>
                      <a:pt x="1654194" y="376986"/>
                    </a:moveTo>
                    <a:cubicBezTo>
                      <a:pt x="1700918" y="400889"/>
                      <a:pt x="1768212" y="436735"/>
                      <a:pt x="1807798" y="474863"/>
                    </a:cubicBezTo>
                    <a:moveTo>
                      <a:pt x="487632" y="1146425"/>
                    </a:moveTo>
                    <a:cubicBezTo>
                      <a:pt x="475392" y="1109728"/>
                      <a:pt x="469294" y="1076278"/>
                      <a:pt x="460811" y="1043393"/>
                    </a:cubicBezTo>
                  </a:path>
                  <a:path w="5104371" h="3136714" stroke="0" extrusionOk="0">
                    <a:moveTo>
                      <a:pt x="460811" y="1043393"/>
                    </a:moveTo>
                    <a:cubicBezTo>
                      <a:pt x="420705" y="841417"/>
                      <a:pt x="495516" y="650729"/>
                      <a:pt x="664395" y="501511"/>
                    </a:cubicBezTo>
                    <a:cubicBezTo>
                      <a:pt x="974355" y="282264"/>
                      <a:pt x="1285513" y="220505"/>
                      <a:pt x="1654785" y="377712"/>
                    </a:cubicBezTo>
                    <a:cubicBezTo>
                      <a:pt x="1819998" y="97702"/>
                      <a:pt x="2342178" y="61263"/>
                      <a:pt x="2653327" y="249194"/>
                    </a:cubicBezTo>
                    <a:cubicBezTo>
                      <a:pt x="2705600" y="109362"/>
                      <a:pt x="2884053" y="38972"/>
                      <a:pt x="3042417" y="14521"/>
                    </a:cubicBezTo>
                    <a:cubicBezTo>
                      <a:pt x="3244765" y="-5325"/>
                      <a:pt x="3423051" y="32704"/>
                      <a:pt x="3524969" y="180143"/>
                    </a:cubicBezTo>
                    <a:cubicBezTo>
                      <a:pt x="3672270" y="16937"/>
                      <a:pt x="3927079" y="-3943"/>
                      <a:pt x="4190192" y="50100"/>
                    </a:cubicBezTo>
                    <a:cubicBezTo>
                      <a:pt x="4364954" y="95759"/>
                      <a:pt x="4480841" y="264463"/>
                      <a:pt x="4527529" y="404868"/>
                    </a:cubicBezTo>
                    <a:cubicBezTo>
                      <a:pt x="4733740" y="452623"/>
                      <a:pt x="4896882" y="581351"/>
                      <a:pt x="4960456" y="749180"/>
                    </a:cubicBezTo>
                    <a:cubicBezTo>
                      <a:pt x="5003493" y="870637"/>
                      <a:pt x="5003608" y="1005823"/>
                      <a:pt x="4941078" y="1122537"/>
                    </a:cubicBezTo>
                    <a:cubicBezTo>
                      <a:pt x="5108118" y="1311605"/>
                      <a:pt x="5142431" y="1497607"/>
                      <a:pt x="5082630" y="1693389"/>
                    </a:cubicBezTo>
                    <a:cubicBezTo>
                      <a:pt x="5038262" y="2010706"/>
                      <a:pt x="4780426" y="2202415"/>
                      <a:pt x="4419534" y="2193085"/>
                    </a:cubicBezTo>
                    <a:cubicBezTo>
                      <a:pt x="4431077" y="2346239"/>
                      <a:pt x="4333778" y="2502564"/>
                      <a:pt x="4182157" y="2621261"/>
                    </a:cubicBezTo>
                    <a:cubicBezTo>
                      <a:pt x="3915193" y="2791164"/>
                      <a:pt x="3623909" y="2802801"/>
                      <a:pt x="3373965" y="2673104"/>
                    </a:cubicBezTo>
                    <a:cubicBezTo>
                      <a:pt x="3267192" y="2898839"/>
                      <a:pt x="3051456" y="3032699"/>
                      <a:pt x="2796415" y="3129888"/>
                    </a:cubicBezTo>
                    <a:cubicBezTo>
                      <a:pt x="2473778" y="3167333"/>
                      <a:pt x="2106905" y="3099075"/>
                      <a:pt x="1947223" y="2851069"/>
                    </a:cubicBezTo>
                    <a:cubicBezTo>
                      <a:pt x="1489461" y="3107200"/>
                      <a:pt x="960903" y="2963349"/>
                      <a:pt x="685781" y="2575590"/>
                    </a:cubicBezTo>
                    <a:cubicBezTo>
                      <a:pt x="435753" y="2605883"/>
                      <a:pt x="230437" y="2453262"/>
                      <a:pt x="131153" y="2269035"/>
                    </a:cubicBezTo>
                    <a:cubicBezTo>
                      <a:pt x="69724" y="2139984"/>
                      <a:pt x="99617" y="1967404"/>
                      <a:pt x="249665" y="1855235"/>
                    </a:cubicBezTo>
                    <a:cubicBezTo>
                      <a:pt x="86374" y="1794527"/>
                      <a:pt x="-44268" y="1611611"/>
                      <a:pt x="-591" y="1430690"/>
                    </a:cubicBezTo>
                    <a:cubicBezTo>
                      <a:pt x="30816" y="1215912"/>
                      <a:pt x="171668" y="1071339"/>
                      <a:pt x="456439" y="1053340"/>
                    </a:cubicBezTo>
                    <a:cubicBezTo>
                      <a:pt x="458033" y="1050152"/>
                      <a:pt x="459356" y="1046845"/>
                      <a:pt x="460811" y="1043393"/>
                    </a:cubicBezTo>
                    <a:close/>
                  </a:path>
                  <a:path w="5104371" h="3136714" fill="none" stroke="0" extrusionOk="0">
                    <a:moveTo>
                      <a:pt x="554509" y="1900688"/>
                    </a:moveTo>
                    <a:cubicBezTo>
                      <a:pt x="453594" y="1893832"/>
                      <a:pt x="350133" y="1870332"/>
                      <a:pt x="255218" y="1842819"/>
                    </a:cubicBezTo>
                    <a:moveTo>
                      <a:pt x="818589" y="2533985"/>
                    </a:moveTo>
                    <a:cubicBezTo>
                      <a:pt x="774940" y="2556462"/>
                      <a:pt x="727043" y="2551370"/>
                      <a:pt x="687672" y="2561649"/>
                    </a:cubicBezTo>
                    <a:moveTo>
                      <a:pt x="1946986" y="2838290"/>
                    </a:moveTo>
                    <a:cubicBezTo>
                      <a:pt x="1916829" y="2799765"/>
                      <a:pt x="1882773" y="2758047"/>
                      <a:pt x="1868057" y="2711950"/>
                    </a:cubicBezTo>
                    <a:moveTo>
                      <a:pt x="3406104" y="2523239"/>
                    </a:moveTo>
                    <a:cubicBezTo>
                      <a:pt x="3400945" y="2570410"/>
                      <a:pt x="3390674" y="2607302"/>
                      <a:pt x="3374556" y="2661850"/>
                    </a:cubicBezTo>
                    <a:moveTo>
                      <a:pt x="4032571" y="1666669"/>
                    </a:moveTo>
                    <a:cubicBezTo>
                      <a:pt x="4261657" y="1765950"/>
                      <a:pt x="4416109" y="2005760"/>
                      <a:pt x="4416698" y="2184808"/>
                    </a:cubicBezTo>
                    <a:moveTo>
                      <a:pt x="4938715" y="1114840"/>
                    </a:moveTo>
                    <a:cubicBezTo>
                      <a:pt x="4898657" y="1188320"/>
                      <a:pt x="4844685" y="1256542"/>
                      <a:pt x="4767624" y="1309142"/>
                    </a:cubicBezTo>
                    <a:moveTo>
                      <a:pt x="4528238" y="393977"/>
                    </a:moveTo>
                    <a:cubicBezTo>
                      <a:pt x="4530566" y="423857"/>
                      <a:pt x="4536544" y="455522"/>
                      <a:pt x="4537218" y="485755"/>
                    </a:cubicBezTo>
                    <a:moveTo>
                      <a:pt x="3435761" y="286951"/>
                    </a:moveTo>
                    <a:cubicBezTo>
                      <a:pt x="3457196" y="243575"/>
                      <a:pt x="3487597" y="204137"/>
                      <a:pt x="3523433" y="169905"/>
                    </a:cubicBezTo>
                    <a:moveTo>
                      <a:pt x="2616108" y="342715"/>
                    </a:moveTo>
                    <a:cubicBezTo>
                      <a:pt x="2621248" y="313466"/>
                      <a:pt x="2637998" y="277566"/>
                      <a:pt x="2658526" y="241788"/>
                    </a:cubicBezTo>
                    <a:moveTo>
                      <a:pt x="1654194" y="376986"/>
                    </a:moveTo>
                    <a:cubicBezTo>
                      <a:pt x="1705957" y="405250"/>
                      <a:pt x="1765279" y="447599"/>
                      <a:pt x="1807798" y="474863"/>
                    </a:cubicBezTo>
                    <a:moveTo>
                      <a:pt x="487632" y="1146425"/>
                    </a:moveTo>
                    <a:cubicBezTo>
                      <a:pt x="472657" y="1112247"/>
                      <a:pt x="466302" y="1073648"/>
                      <a:pt x="460811" y="1043393"/>
                    </a:cubicBezTo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Rounded Rectangle 219"/>
              <p:cNvSpPr/>
              <p:nvPr/>
            </p:nvSpPr>
            <p:spPr>
              <a:xfrm>
                <a:off x="4572033" y="2051100"/>
                <a:ext cx="983973" cy="964095"/>
              </a:xfrm>
              <a:prstGeom prst="roundRect">
                <a:avLst/>
              </a:prstGeom>
              <a:solidFill>
                <a:schemeClr val="accent1">
                  <a:alpha val="2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21" name="Picture 220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64796" y="2597284"/>
                <a:ext cx="551516" cy="367678"/>
              </a:xfrm>
              <a:prstGeom prst="rect">
                <a:avLst/>
              </a:prstGeom>
            </p:spPr>
          </p:pic>
          <p:sp>
            <p:nvSpPr>
              <p:cNvPr id="222" name="Rounded Rectangle 221"/>
              <p:cNvSpPr/>
              <p:nvPr/>
            </p:nvSpPr>
            <p:spPr>
              <a:xfrm>
                <a:off x="5084724" y="2585871"/>
                <a:ext cx="1575353" cy="758110"/>
              </a:xfrm>
              <a:prstGeom prst="roundRect">
                <a:avLst/>
              </a:prstGeom>
              <a:solidFill>
                <a:schemeClr val="accent1">
                  <a:alpha val="2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23" name="Picture 222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13021" y="2895204"/>
                <a:ext cx="566508" cy="366564"/>
              </a:xfrm>
              <a:prstGeom prst="rect">
                <a:avLst/>
              </a:prstGeom>
            </p:spPr>
          </p:pic>
          <p:sp>
            <p:nvSpPr>
              <p:cNvPr id="224" name="Oval 223"/>
              <p:cNvSpPr/>
              <p:nvPr/>
            </p:nvSpPr>
            <p:spPr>
              <a:xfrm>
                <a:off x="4929839" y="960780"/>
                <a:ext cx="3610810" cy="1712021"/>
              </a:xfrm>
              <a:prstGeom prst="ellipse">
                <a:avLst/>
              </a:prstGeom>
              <a:solidFill>
                <a:srgbClr val="FFC000">
                  <a:alpha val="38945"/>
                </a:srgbClr>
              </a:solidFill>
              <a:ln>
                <a:solidFill>
                  <a:srgbClr val="FFC000">
                    <a:alpha val="4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5" name="TextBox 224"/>
              <p:cNvSpPr txBox="1"/>
              <p:nvPr/>
            </p:nvSpPr>
            <p:spPr>
              <a:xfrm>
                <a:off x="6827091" y="4078313"/>
                <a:ext cx="297129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feature space</a:t>
                </a:r>
                <a:endParaRPr lang="en-US" sz="3200" dirty="0"/>
              </a:p>
            </p:txBody>
          </p:sp>
          <p:grpSp>
            <p:nvGrpSpPr>
              <p:cNvPr id="226" name="Group 225"/>
              <p:cNvGrpSpPr/>
              <p:nvPr/>
            </p:nvGrpSpPr>
            <p:grpSpPr>
              <a:xfrm>
                <a:off x="5387241" y="1335777"/>
                <a:ext cx="717290" cy="595143"/>
                <a:chOff x="10121711" y="789494"/>
                <a:chExt cx="717290" cy="595143"/>
              </a:xfrm>
            </p:grpSpPr>
            <p:sp>
              <p:nvSpPr>
                <p:cNvPr id="227" name="Oval 226"/>
                <p:cNvSpPr/>
                <p:nvPr/>
              </p:nvSpPr>
              <p:spPr>
                <a:xfrm>
                  <a:off x="10121711" y="799862"/>
                  <a:ext cx="717290" cy="584775"/>
                </a:xfrm>
                <a:prstGeom prst="ellipse">
                  <a:avLst/>
                </a:prstGeom>
                <a:solidFill>
                  <a:srgbClr val="C00000">
                    <a:alpha val="23000"/>
                  </a:srgbClr>
                </a:solidFill>
                <a:ln>
                  <a:solidFill>
                    <a:srgbClr val="C00000">
                      <a:alpha val="7324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28" name="Picture 227"/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50766" y="789494"/>
                  <a:ext cx="644270" cy="515415"/>
                </a:xfrm>
                <a:prstGeom prst="rect">
                  <a:avLst/>
                </a:prstGeom>
              </p:spPr>
            </p:pic>
          </p:grpSp>
        </p:grpSp>
        <p:sp>
          <p:nvSpPr>
            <p:cNvPr id="216" name="TextBox 215"/>
            <p:cNvSpPr txBox="1"/>
            <p:nvPr/>
          </p:nvSpPr>
          <p:spPr>
            <a:xfrm>
              <a:off x="21282538" y="5992110"/>
              <a:ext cx="25421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batch dataset </a:t>
              </a:r>
              <a:endParaRPr lang="en-US" sz="3200" dirty="0"/>
            </a:p>
          </p:txBody>
        </p:sp>
        <p:sp>
          <p:nvSpPr>
            <p:cNvPr id="217" name="Arc 216"/>
            <p:cNvSpPr/>
            <p:nvPr/>
          </p:nvSpPr>
          <p:spPr>
            <a:xfrm rot="15584048">
              <a:off x="19707330" y="4933385"/>
              <a:ext cx="871250" cy="2229811"/>
            </a:xfrm>
            <a:prstGeom prst="arc">
              <a:avLst>
                <a:gd name="adj1" fmla="val 16966563"/>
                <a:gd name="adj2" fmla="val 4682117"/>
              </a:avLst>
            </a:prstGeom>
            <a:ln w="3175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FF0000"/>
                </a:highlight>
              </a:endParaRPr>
            </a:p>
          </p:txBody>
        </p:sp>
      </p:grpSp>
      <p:pic>
        <p:nvPicPr>
          <p:cNvPr id="230" name="Picture 2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900347" y="21640695"/>
            <a:ext cx="2121003" cy="536102"/>
          </a:xfrm>
          <a:prstGeom prst="rect">
            <a:avLst/>
          </a:prstGeom>
        </p:spPr>
      </p:pic>
      <p:grpSp>
        <p:nvGrpSpPr>
          <p:cNvPr id="276" name="Group 275"/>
          <p:cNvGrpSpPr/>
          <p:nvPr/>
        </p:nvGrpSpPr>
        <p:grpSpPr>
          <a:xfrm>
            <a:off x="17689886" y="17481787"/>
            <a:ext cx="9809930" cy="584775"/>
            <a:chOff x="17660041" y="19997204"/>
            <a:chExt cx="9809930" cy="584775"/>
          </a:xfrm>
        </p:grpSpPr>
        <p:sp>
          <p:nvSpPr>
            <p:cNvPr id="229" name="TextBox 228"/>
            <p:cNvSpPr txBox="1"/>
            <p:nvPr/>
          </p:nvSpPr>
          <p:spPr>
            <a:xfrm>
              <a:off x="17893247" y="19997204"/>
              <a:ext cx="95767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effectLst/>
                  <a:highlight>
                    <a:srgbClr val="FFFFFF"/>
                  </a:highlight>
                </a:rPr>
                <a:t>Assumption:</a:t>
              </a:r>
              <a:r>
                <a:rPr lang="en-US" sz="3200" dirty="0">
                  <a:effectLst/>
                  <a:highlight>
                    <a:srgbClr val="FFFFFF"/>
                  </a:highlight>
                </a:rPr>
                <a:t> robust single-policy clipped </a:t>
              </a:r>
              <a:r>
                <a:rPr lang="en-US" sz="3200" dirty="0" err="1">
                  <a:effectLst/>
                  <a:highlight>
                    <a:srgbClr val="FFFFFF"/>
                  </a:highlight>
                </a:rPr>
                <a:t>concentrability</a:t>
              </a:r>
              <a:endParaRPr lang="en-US" sz="3200" dirty="0">
                <a:effectLst/>
                <a:highlight>
                  <a:srgbClr val="FFFFFF"/>
                </a:highlight>
              </a:endParaRPr>
            </a:p>
          </p:txBody>
        </p:sp>
        <p:sp>
          <p:nvSpPr>
            <p:cNvPr id="231" name="Triangle 230"/>
            <p:cNvSpPr>
              <a:spLocks noChangeAspect="1"/>
            </p:cNvSpPr>
            <p:nvPr/>
          </p:nvSpPr>
          <p:spPr>
            <a:xfrm rot="5400000">
              <a:off x="17640241" y="20186097"/>
              <a:ext cx="237600" cy="198000"/>
            </a:xfrm>
            <a:prstGeom prst="triangl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2" name="Triangle 231"/>
          <p:cNvSpPr>
            <a:spLocks noChangeAspect="1"/>
          </p:cNvSpPr>
          <p:nvPr/>
        </p:nvSpPr>
        <p:spPr>
          <a:xfrm rot="5400000">
            <a:off x="16796521" y="22564091"/>
            <a:ext cx="237600" cy="198000"/>
          </a:xfrm>
          <a:prstGeom prst="triangl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TextBox 233"/>
              <p:cNvSpPr txBox="1"/>
              <p:nvPr/>
            </p:nvSpPr>
            <p:spPr>
              <a:xfrm>
                <a:off x="17069420" y="22380663"/>
                <a:ext cx="9576724" cy="163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highlight>
                      <a:srgbClr val="FFFFFF"/>
                    </a:highlight>
                  </a:rPr>
                  <a:t>Our results</a:t>
                </a:r>
                <a:r>
                  <a:rPr lang="en-US" sz="3200" b="1" dirty="0">
                    <a:effectLst/>
                    <a:highlight>
                      <a:srgbClr val="FFFFFF"/>
                    </a:highlight>
                  </a:rPr>
                  <a:t>: </a:t>
                </a:r>
                <a:r>
                  <a:rPr lang="en-US" sz="3200" dirty="0">
                    <a:highlight>
                      <a:srgbClr val="FFFFFF"/>
                    </a:highlight>
                  </a:rPr>
                  <a:t>t</a:t>
                </a:r>
                <a:r>
                  <a:rPr lang="en-US" sz="3200" dirty="0">
                    <a:effectLst/>
                    <a:highlight>
                      <a:srgbClr val="FFFFFF"/>
                    </a:highlight>
                  </a:rPr>
                  <a:t>o achieve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1" smtClean="0">
                        <a:effectLst/>
                        <a:highlight>
                          <a:srgbClr val="FFFFFF"/>
                        </a:highlight>
                        <a:latin typeface="Cambria Math" panose="02040503050406030204" charset="0"/>
                      </a:rPr>
                      <m:t>ϵ</m:t>
                    </m:r>
                  </m:oMath>
                </a14:m>
                <a:r>
                  <a:rPr lang="en-US" sz="3200" dirty="0">
                    <a:effectLst/>
                    <a:highlight>
                      <a:srgbClr val="FFFFFF"/>
                    </a:highlight>
                  </a:rPr>
                  <a:t>-sub-optimality gap, </a:t>
                </a:r>
                <a:r>
                  <a:rPr lang="en-US" sz="3200" dirty="0">
                    <a:effectLst/>
                    <a:highlight>
                      <a:srgbClr val="FFFFFF"/>
                    </a:highlight>
                    <a:sym typeface="+mn-ea"/>
                  </a:rPr>
                  <a:t>, </a:t>
                </a:r>
                <a:r>
                  <a:rPr lang="en-US" sz="3200" dirty="0">
                    <a:highlight>
                      <a:srgbClr val="FFFFFF"/>
                    </a:highlight>
                    <a:sym typeface="+mn-ea"/>
                  </a:rPr>
                  <a:t>CROP-VI needs</a:t>
                </a:r>
                <a:r>
                  <a:rPr lang="zh-CN" altLang="en-US" sz="3200" dirty="0">
                    <a:highlight>
                      <a:srgbClr val="FFFFFF"/>
                    </a:highlight>
                    <a:sym typeface="+mn-ea"/>
                  </a:rPr>
                  <a:t> </a:t>
                </a:r>
                <a:r>
                  <a:rPr lang="en-US" altLang="zh-CN" sz="3200" dirty="0">
                    <a:highlight>
                      <a:srgbClr val="FFFFFF"/>
                    </a:highlight>
                    <a:sym typeface="+mn-ea"/>
                  </a:rPr>
                  <a:t>at most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𝑂</m:t>
                        </m:r>
                      </m:e>
                    </m:acc>
                    <m:r>
                      <a:rPr lang="en-US" sz="3200" b="0" i="1" smtClean="0">
                        <a:highlight>
                          <a:srgbClr val="FFFFFF"/>
                        </a:highligh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Sup>
                      <m:sSubSupPr>
                        <m:ctrlP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ea typeface="华文仿宋" panose="02010600040101010101" charset="-122"/>
                            <a:cs typeface="Cambria Math" panose="02040503050406030204" charset="0"/>
                          </a:rPr>
                          <m:t>rob</m:t>
                        </m:r>
                      </m:sub>
                      <m:sup>
                        <m:r>
                          <a:rPr lang="en-US" sz="320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bSup>
                    <m:sSup>
                      <m:sSupPr>
                        <m:ctrlP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e>
                      <m:sup>
                        <m: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𝐻</m:t>
                        </m:r>
                      </m:e>
                      <m:sup>
                        <m: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sup>
                    </m:sSup>
                    <m:r>
                      <a:rPr lang="en-US" sz="3200" b="0" i="1" smtClean="0">
                        <a:highlight>
                          <a:srgbClr val="FFFFFF"/>
                        </a:highlight>
                        <a:latin typeface="Cambria Math" panose="02040503050406030204" charset="0"/>
                        <a:cs typeface="Cambria Math" panose="02040503050406030204" charset="0"/>
                      </a:rPr>
                      <m:t>/</m:t>
                    </m:r>
                    <m:sSup>
                      <m:sSupPr>
                        <m:ctrlP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sz="320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𝜖</m:t>
                        </m:r>
                      </m:e>
                      <m:sup>
                        <m: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highlight>
                          <a:srgbClr val="FFFFFF"/>
                        </a:highligh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highlight>
                      <a:srgbClr val="FFFFFF"/>
                    </a:highlight>
                    <a:sym typeface="+mn-ea"/>
                  </a:rPr>
                  <a:t> samples</a:t>
                </a:r>
                <a:r>
                  <a:rPr lang="en-US" altLang="zh-CN" sz="3200" dirty="0">
                    <a:highlight>
                      <a:srgbClr val="FFFFFF"/>
                    </a:highlight>
                    <a:latin typeface="CMSSBX10"/>
                    <a:sym typeface="+mn-ea"/>
                  </a:rPr>
                  <a:t>.</a:t>
                </a:r>
                <a:endParaRPr lang="en-US" sz="3200" dirty="0">
                  <a:effectLst/>
                  <a:highlight>
                    <a:srgbClr val="FFFFFF"/>
                  </a:highlight>
                </a:endParaRPr>
              </a:p>
              <a:p>
                <a:endParaRPr lang="zh-CN" altLang="en-US" sz="3200" dirty="0">
                  <a:effectLst/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234" name="TextBox 2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9420" y="22380663"/>
                <a:ext cx="9576724" cy="1630680"/>
              </a:xfrm>
              <a:prstGeom prst="rect">
                <a:avLst/>
              </a:prstGeom>
              <a:blipFill rotWithShape="1">
                <a:blip r:embed="rId17"/>
                <a:stretch>
                  <a:fillRect l="-6" t="-5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" name="Rounded Rectangle 234"/>
          <p:cNvSpPr/>
          <p:nvPr/>
        </p:nvSpPr>
        <p:spPr>
          <a:xfrm>
            <a:off x="784225" y="29342080"/>
            <a:ext cx="31525845" cy="8204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/>
              <a:t>CROP-VI : </a:t>
            </a:r>
            <a:r>
              <a:rPr lang="en-US" sz="5600" b="1" dirty="0">
                <a:ln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r>
              <a:rPr lang="en-US" sz="5600" b="1" dirty="0"/>
              <a:t>onstrained </a:t>
            </a:r>
            <a:r>
              <a:rPr lang="en-US" sz="5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</a:t>
            </a:r>
            <a:r>
              <a:rPr lang="en-US" sz="5600" b="1" dirty="0"/>
              <a:t>obust </a:t>
            </a:r>
            <a:r>
              <a:rPr lang="en-US" sz="5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</a:t>
            </a:r>
            <a:r>
              <a:rPr lang="en-US" sz="5600" b="1" dirty="0"/>
              <a:t>ptimistic-</a:t>
            </a:r>
            <a:r>
              <a:rPr lang="en-US" sz="5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sz="5600" b="1" dirty="0"/>
              <a:t>essimistic </a:t>
            </a:r>
            <a:r>
              <a:rPr lang="en-US" sz="5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</a:t>
            </a:r>
            <a:r>
              <a:rPr lang="en-US" sz="5600" b="1" dirty="0"/>
              <a:t>alue </a:t>
            </a:r>
            <a:r>
              <a:rPr lang="en-US" sz="5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5600" b="1" dirty="0"/>
              <a:t>teration</a:t>
            </a:r>
            <a:endParaRPr lang="en-US" sz="5600" b="1" dirty="0"/>
          </a:p>
        </p:txBody>
      </p:sp>
      <p:grpSp>
        <p:nvGrpSpPr>
          <p:cNvPr id="271" name="Group 270"/>
          <p:cNvGrpSpPr/>
          <p:nvPr/>
        </p:nvGrpSpPr>
        <p:grpSpPr>
          <a:xfrm>
            <a:off x="16836633" y="23948725"/>
            <a:ext cx="5047400" cy="854238"/>
            <a:chOff x="16977663" y="19074114"/>
            <a:chExt cx="5047400" cy="854238"/>
          </a:xfrm>
        </p:grpSpPr>
        <p:grpSp>
          <p:nvGrpSpPr>
            <p:cNvPr id="272" name="Group 271"/>
            <p:cNvGrpSpPr/>
            <p:nvPr/>
          </p:nvGrpSpPr>
          <p:grpSpPr>
            <a:xfrm>
              <a:off x="16977663" y="19313942"/>
              <a:ext cx="565836" cy="614410"/>
              <a:chOff x="905512" y="20151442"/>
              <a:chExt cx="565836" cy="614410"/>
            </a:xfrm>
          </p:grpSpPr>
          <p:sp>
            <p:nvSpPr>
              <p:cNvPr id="274" name="Triangle 273"/>
              <p:cNvSpPr>
                <a:spLocks noChangeAspect="1"/>
              </p:cNvSpPr>
              <p:nvPr/>
            </p:nvSpPr>
            <p:spPr>
              <a:xfrm rot="5400000">
                <a:off x="885712" y="20171242"/>
                <a:ext cx="237600" cy="198000"/>
              </a:xfrm>
              <a:prstGeom prst="triangl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5" name="TextBox 274"/>
              <p:cNvSpPr txBox="1"/>
              <p:nvPr/>
            </p:nvSpPr>
            <p:spPr>
              <a:xfrm>
                <a:off x="1286617" y="20181077"/>
                <a:ext cx="1847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3200" b="1" dirty="0"/>
              </a:p>
            </p:txBody>
          </p:sp>
        </p:grpSp>
        <p:sp>
          <p:nvSpPr>
            <p:cNvPr id="273" name="TextBox 272"/>
            <p:cNvSpPr txBox="1"/>
            <p:nvPr/>
          </p:nvSpPr>
          <p:spPr>
            <a:xfrm>
              <a:off x="17393859" y="19074114"/>
              <a:ext cx="463120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Full feature coverage</a:t>
              </a:r>
              <a:endParaRPr lang="en-US" sz="4000" b="1" dirty="0"/>
            </a:p>
          </p:txBody>
        </p:sp>
      </p:grpSp>
      <p:grpSp>
        <p:nvGrpSpPr>
          <p:cNvPr id="468" name="Group 467"/>
          <p:cNvGrpSpPr/>
          <p:nvPr/>
        </p:nvGrpSpPr>
        <p:grpSpPr>
          <a:xfrm>
            <a:off x="21120525" y="18094254"/>
            <a:ext cx="7264648" cy="2942184"/>
            <a:chOff x="19187912" y="16573005"/>
            <a:chExt cx="7381075" cy="2904048"/>
          </a:xfrm>
        </p:grpSpPr>
        <p:grpSp>
          <p:nvGrpSpPr>
            <p:cNvPr id="205" name="Group 204"/>
            <p:cNvGrpSpPr/>
            <p:nvPr/>
          </p:nvGrpSpPr>
          <p:grpSpPr>
            <a:xfrm>
              <a:off x="19187912" y="16620414"/>
              <a:ext cx="6352324" cy="2856639"/>
              <a:chOff x="19528299" y="13260422"/>
              <a:chExt cx="6352324" cy="2856639"/>
            </a:xfrm>
          </p:grpSpPr>
          <p:sp>
            <p:nvSpPr>
              <p:cNvPr id="207" name="Rounded Rectangle 206"/>
              <p:cNvSpPr/>
              <p:nvPr/>
            </p:nvSpPr>
            <p:spPr>
              <a:xfrm>
                <a:off x="21206017" y="14986177"/>
                <a:ext cx="399393" cy="579136"/>
              </a:xfrm>
              <a:prstGeom prst="roundRect">
                <a:avLst/>
              </a:prstGeom>
              <a:solidFill>
                <a:srgbClr val="FF0000">
                  <a:alpha val="5000"/>
                </a:srgbClr>
              </a:solidFill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Arc 207"/>
              <p:cNvSpPr/>
              <p:nvPr/>
            </p:nvSpPr>
            <p:spPr>
              <a:xfrm rot="5400000" flipV="1">
                <a:off x="21527234" y="15268950"/>
                <a:ext cx="579135" cy="665429"/>
              </a:xfrm>
              <a:prstGeom prst="arc">
                <a:avLst>
                  <a:gd name="adj1" fmla="val 16200000"/>
                  <a:gd name="adj2" fmla="val 50"/>
                </a:avLst>
              </a:prstGeom>
              <a:ln w="31750">
                <a:solidFill>
                  <a:srgbClr val="C0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09" name="Picture 208"/>
              <p:cNvPicPr>
                <a:picLocks noChangeAspect="1"/>
              </p:cNvPicPr>
              <p:nvPr/>
            </p:nvPicPr>
            <p:blipFill rotWithShape="1">
              <a:blip r:embed="rId18"/>
              <a:srcRect t="-18609" r="3999" b="-1"/>
              <a:stretch>
                <a:fillRect/>
              </a:stretch>
            </p:blipFill>
            <p:spPr>
              <a:xfrm>
                <a:off x="22043884" y="15685061"/>
                <a:ext cx="3836739" cy="432000"/>
              </a:xfrm>
              <a:prstGeom prst="rect">
                <a:avLst/>
              </a:prstGeom>
            </p:spPr>
          </p:pic>
          <p:sp>
            <p:nvSpPr>
              <p:cNvPr id="210" name="Rounded Rectangle 209"/>
              <p:cNvSpPr/>
              <p:nvPr/>
            </p:nvSpPr>
            <p:spPr>
              <a:xfrm>
                <a:off x="21605124" y="14087739"/>
                <a:ext cx="655500" cy="579135"/>
              </a:xfrm>
              <a:prstGeom prst="roundRect">
                <a:avLst>
                  <a:gd name="adj" fmla="val 20420"/>
                </a:avLst>
              </a:prstGeom>
              <a:solidFill>
                <a:srgbClr val="FF0000">
                  <a:alpha val="5000"/>
                </a:srgbClr>
              </a:solidFill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Arc 210"/>
              <p:cNvSpPr/>
              <p:nvPr/>
            </p:nvSpPr>
            <p:spPr>
              <a:xfrm rot="5400000" flipH="1" flipV="1">
                <a:off x="21930181" y="13731218"/>
                <a:ext cx="654515" cy="665429"/>
              </a:xfrm>
              <a:prstGeom prst="arc">
                <a:avLst>
                  <a:gd name="adj1" fmla="val 16200000"/>
                  <a:gd name="adj2" fmla="val 50"/>
                </a:avLst>
              </a:prstGeom>
              <a:ln w="31750">
                <a:solidFill>
                  <a:srgbClr val="C0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12" name="Picture 211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528299" y="13260422"/>
                <a:ext cx="4196570" cy="360000"/>
              </a:xfrm>
              <a:prstGeom prst="rect">
                <a:avLst/>
              </a:prstGeom>
            </p:spPr>
          </p:pic>
        </p:grpSp>
        <p:sp>
          <p:nvSpPr>
            <p:cNvPr id="280" name="Rounded Rectangle 279"/>
            <p:cNvSpPr/>
            <p:nvPr/>
          </p:nvSpPr>
          <p:spPr>
            <a:xfrm>
              <a:off x="24308680" y="17172598"/>
              <a:ext cx="1111640" cy="729559"/>
            </a:xfrm>
            <a:prstGeom prst="roundRect">
              <a:avLst>
                <a:gd name="adj" fmla="val 20420"/>
              </a:avLst>
            </a:prstGeom>
            <a:solidFill>
              <a:srgbClr val="FF0000">
                <a:alpha val="5000"/>
              </a:srgbClr>
            </a:solidFill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23746868" y="16573005"/>
              <a:ext cx="28221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B03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clipping operation</a:t>
              </a:r>
              <a:endParaRPr lang="en-US" sz="2800" dirty="0">
                <a:solidFill>
                  <a:srgbClr val="FB030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8" name="Group 287"/>
          <p:cNvGrpSpPr/>
          <p:nvPr/>
        </p:nvGrpSpPr>
        <p:grpSpPr>
          <a:xfrm>
            <a:off x="17120834" y="25104327"/>
            <a:ext cx="2579646" cy="584775"/>
            <a:chOff x="17330082" y="20036247"/>
            <a:chExt cx="2579646" cy="584775"/>
          </a:xfrm>
        </p:grpSpPr>
        <p:sp>
          <p:nvSpPr>
            <p:cNvPr id="289" name="TextBox 288"/>
            <p:cNvSpPr txBox="1"/>
            <p:nvPr/>
          </p:nvSpPr>
          <p:spPr>
            <a:xfrm>
              <a:off x="17580244" y="20036247"/>
              <a:ext cx="232948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effectLst/>
                  <a:highlight>
                    <a:srgbClr val="FFFFFF"/>
                  </a:highlight>
                </a:rPr>
                <a:t>Assumption:</a:t>
              </a:r>
              <a:endParaRPr lang="en-US" sz="3200" dirty="0">
                <a:effectLst/>
                <a:highlight>
                  <a:srgbClr val="FFFFFF"/>
                </a:highlight>
              </a:endParaRPr>
            </a:p>
          </p:txBody>
        </p:sp>
        <p:sp>
          <p:nvSpPr>
            <p:cNvPr id="290" name="Triangle 289"/>
            <p:cNvSpPr>
              <a:spLocks noChangeAspect="1"/>
            </p:cNvSpPr>
            <p:nvPr/>
          </p:nvSpPr>
          <p:spPr>
            <a:xfrm rot="5400000">
              <a:off x="17310282" y="20186182"/>
              <a:ext cx="237600" cy="198000"/>
            </a:xfrm>
            <a:prstGeom prst="triangl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9" name="Group 298"/>
          <p:cNvGrpSpPr/>
          <p:nvPr/>
        </p:nvGrpSpPr>
        <p:grpSpPr>
          <a:xfrm>
            <a:off x="27739975" y="25104090"/>
            <a:ext cx="5498465" cy="3912870"/>
            <a:chOff x="19404094" y="4478323"/>
            <a:chExt cx="6853316" cy="4426787"/>
          </a:xfrm>
        </p:grpSpPr>
        <p:grpSp>
          <p:nvGrpSpPr>
            <p:cNvPr id="300" name="Group 299"/>
            <p:cNvGrpSpPr/>
            <p:nvPr/>
          </p:nvGrpSpPr>
          <p:grpSpPr>
            <a:xfrm>
              <a:off x="19404094" y="4478323"/>
              <a:ext cx="6853316" cy="4426787"/>
              <a:chOff x="3677562" y="311735"/>
              <a:chExt cx="6853316" cy="4426787"/>
            </a:xfrm>
          </p:grpSpPr>
          <p:sp>
            <p:nvSpPr>
              <p:cNvPr id="303" name="Cloud 302"/>
              <p:cNvSpPr/>
              <p:nvPr/>
            </p:nvSpPr>
            <p:spPr>
              <a:xfrm>
                <a:off x="3677562" y="311735"/>
                <a:ext cx="5903843" cy="3856381"/>
              </a:xfrm>
              <a:custGeom>
                <a:avLst/>
                <a:gdLst>
                  <a:gd name="connsiteX0" fmla="*/ 395961 w 4386030"/>
                  <a:gd name="connsiteY0" fmla="*/ 890939 h 2678397"/>
                  <a:gd name="connsiteX1" fmla="*/ 570894 w 4386030"/>
                  <a:gd name="connsiteY1" fmla="*/ 428233 h 2678397"/>
                  <a:gd name="connsiteX2" fmla="*/ 1421906 w 4386030"/>
                  <a:gd name="connsiteY2" fmla="*/ 322523 h 2678397"/>
                  <a:gd name="connsiteX3" fmla="*/ 2279923 w 4386030"/>
                  <a:gd name="connsiteY3" fmla="*/ 212783 h 2678397"/>
                  <a:gd name="connsiteX4" fmla="*/ 2614256 w 4386030"/>
                  <a:gd name="connsiteY4" fmla="*/ 12399 h 2678397"/>
                  <a:gd name="connsiteX5" fmla="*/ 3028898 w 4386030"/>
                  <a:gd name="connsiteY5" fmla="*/ 153821 h 2678397"/>
                  <a:gd name="connsiteX6" fmla="*/ 3600504 w 4386030"/>
                  <a:gd name="connsiteY6" fmla="*/ 42779 h 2678397"/>
                  <a:gd name="connsiteX7" fmla="*/ 3890367 w 4386030"/>
                  <a:gd name="connsiteY7" fmla="*/ 345711 h 2678397"/>
                  <a:gd name="connsiteX8" fmla="*/ 4262368 w 4386030"/>
                  <a:gd name="connsiteY8" fmla="*/ 639715 h 2678397"/>
                  <a:gd name="connsiteX9" fmla="*/ 4245717 w 4386030"/>
                  <a:gd name="connsiteY9" fmla="*/ 958518 h 2678397"/>
                  <a:gd name="connsiteX10" fmla="*/ 4367348 w 4386030"/>
                  <a:gd name="connsiteY10" fmla="*/ 1445962 h 2678397"/>
                  <a:gd name="connsiteX11" fmla="*/ 3797570 w 4386030"/>
                  <a:gd name="connsiteY11" fmla="*/ 1872645 h 2678397"/>
                  <a:gd name="connsiteX12" fmla="*/ 3593600 w 4386030"/>
                  <a:gd name="connsiteY12" fmla="*/ 2238259 h 2678397"/>
                  <a:gd name="connsiteX13" fmla="*/ 2899145 w 4386030"/>
                  <a:gd name="connsiteY13" fmla="*/ 2282527 h 2678397"/>
                  <a:gd name="connsiteX14" fmla="*/ 2402874 w 4386030"/>
                  <a:gd name="connsiteY14" fmla="*/ 2672569 h 2678397"/>
                  <a:gd name="connsiteX15" fmla="*/ 1673189 w 4386030"/>
                  <a:gd name="connsiteY15" fmla="*/ 2434489 h 2678397"/>
                  <a:gd name="connsiteX16" fmla="*/ 589271 w 4386030"/>
                  <a:gd name="connsiteY16" fmla="*/ 2199261 h 2678397"/>
                  <a:gd name="connsiteX17" fmla="*/ 112696 w 4386030"/>
                  <a:gd name="connsiteY17" fmla="*/ 1937497 h 2678397"/>
                  <a:gd name="connsiteX18" fmla="*/ 214529 w 4386030"/>
                  <a:gd name="connsiteY18" fmla="*/ 1584160 h 2678397"/>
                  <a:gd name="connsiteX19" fmla="*/ -508 w 4386030"/>
                  <a:gd name="connsiteY19" fmla="*/ 1221646 h 2678397"/>
                  <a:gd name="connsiteX20" fmla="*/ 392204 w 4386030"/>
                  <a:gd name="connsiteY20" fmla="*/ 899432 h 2678397"/>
                  <a:gd name="connsiteX21" fmla="*/ 395961 w 4386030"/>
                  <a:gd name="connsiteY21" fmla="*/ 890939 h 2678397"/>
                  <a:gd name="connsiteX0-1" fmla="*/ 476473 w 4386030"/>
                  <a:gd name="connsiteY0-2" fmla="*/ 1622972 h 2678397"/>
                  <a:gd name="connsiteX1-3" fmla="*/ 219301 w 4386030"/>
                  <a:gd name="connsiteY1-4" fmla="*/ 1573558 h 2678397"/>
                  <a:gd name="connsiteX2-5" fmla="*/ 703389 w 4386030"/>
                  <a:gd name="connsiteY2-6" fmla="*/ 2163735 h 2678397"/>
                  <a:gd name="connsiteX3-7" fmla="*/ 590895 w 4386030"/>
                  <a:gd name="connsiteY3-8" fmla="*/ 2187357 h 2678397"/>
                  <a:gd name="connsiteX4-9" fmla="*/ 1672986 w 4386030"/>
                  <a:gd name="connsiteY4-10" fmla="*/ 2423577 h 2678397"/>
                  <a:gd name="connsiteX5-11" fmla="*/ 1605165 w 4386030"/>
                  <a:gd name="connsiteY5-12" fmla="*/ 2315697 h 2678397"/>
                  <a:gd name="connsiteX6-13" fmla="*/ 2926761 w 4386030"/>
                  <a:gd name="connsiteY6-14" fmla="*/ 2154559 h 2678397"/>
                  <a:gd name="connsiteX7-15" fmla="*/ 2899653 w 4386030"/>
                  <a:gd name="connsiteY7-16" fmla="*/ 2272917 h 2678397"/>
                  <a:gd name="connsiteX8-17" fmla="*/ 3465065 w 4386030"/>
                  <a:gd name="connsiteY8-18" fmla="*/ 1423146 h 2678397"/>
                  <a:gd name="connsiteX9-19" fmla="*/ 3795134 w 4386030"/>
                  <a:gd name="connsiteY9-20" fmla="*/ 1865577 h 2678397"/>
                  <a:gd name="connsiteX10-21" fmla="*/ 4243687 w 4386030"/>
                  <a:gd name="connsiteY10-22" fmla="*/ 951946 h 2678397"/>
                  <a:gd name="connsiteX11-23" fmla="*/ 4096673 w 4386030"/>
                  <a:gd name="connsiteY11-24" fmla="*/ 1117858 h 2678397"/>
                  <a:gd name="connsiteX12-25" fmla="*/ 3890977 w 4386030"/>
                  <a:gd name="connsiteY12-26" fmla="*/ 336411 h 2678397"/>
                  <a:gd name="connsiteX13-27" fmla="*/ 3898693 w 4386030"/>
                  <a:gd name="connsiteY13-28" fmla="*/ 414779 h 2678397"/>
                  <a:gd name="connsiteX14-29" fmla="*/ 2952244 w 4386030"/>
                  <a:gd name="connsiteY14-30" fmla="*/ 245023 h 2678397"/>
                  <a:gd name="connsiteX15-31" fmla="*/ 3027579 w 4386030"/>
                  <a:gd name="connsiteY15-32" fmla="*/ 145079 h 2678397"/>
                  <a:gd name="connsiteX16-33" fmla="*/ 2247941 w 4386030"/>
                  <a:gd name="connsiteY16-34" fmla="*/ 292639 h 2678397"/>
                  <a:gd name="connsiteX17-35" fmla="*/ 2284390 w 4386030"/>
                  <a:gd name="connsiteY17-36" fmla="*/ 206459 h 2678397"/>
                  <a:gd name="connsiteX18-37" fmla="*/ 1421398 w 4386030"/>
                  <a:gd name="connsiteY18-38" fmla="*/ 321903 h 2678397"/>
                  <a:gd name="connsiteX19-39" fmla="*/ 1553385 w 4386030"/>
                  <a:gd name="connsiteY19-40" fmla="*/ 405479 h 2678397"/>
                  <a:gd name="connsiteX20-41" fmla="*/ 419008 w 4386030"/>
                  <a:gd name="connsiteY20-42" fmla="*/ 978916 h 2678397"/>
                  <a:gd name="connsiteX21-43" fmla="*/ 395961 w 4386030"/>
                  <a:gd name="connsiteY21-44" fmla="*/ 890939 h 267839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</a:cxnLst>
                <a:rect l="l" t="t" r="r" b="b"/>
                <a:pathLst>
                  <a:path w="4386030" h="2678397" fill="none" extrusionOk="0">
                    <a:moveTo>
                      <a:pt x="395961" y="890939"/>
                    </a:moveTo>
                    <a:cubicBezTo>
                      <a:pt x="360583" y="738519"/>
                      <a:pt x="411094" y="524550"/>
                      <a:pt x="570894" y="428233"/>
                    </a:cubicBezTo>
                    <a:cubicBezTo>
                      <a:pt x="793630" y="232342"/>
                      <a:pt x="1141949" y="152471"/>
                      <a:pt x="1421906" y="322523"/>
                    </a:cubicBezTo>
                    <a:cubicBezTo>
                      <a:pt x="1611137" y="68562"/>
                      <a:pt x="1971927" y="12315"/>
                      <a:pt x="2279923" y="212783"/>
                    </a:cubicBezTo>
                    <a:cubicBezTo>
                      <a:pt x="2337359" y="128177"/>
                      <a:pt x="2464251" y="11332"/>
                      <a:pt x="2614256" y="12399"/>
                    </a:cubicBezTo>
                    <a:cubicBezTo>
                      <a:pt x="2782374" y="-13330"/>
                      <a:pt x="2932703" y="45883"/>
                      <a:pt x="3028898" y="153821"/>
                    </a:cubicBezTo>
                    <a:cubicBezTo>
                      <a:pt x="3148711" y="8694"/>
                      <a:pt x="3429221" y="-55970"/>
                      <a:pt x="3600504" y="42779"/>
                    </a:cubicBezTo>
                    <a:cubicBezTo>
                      <a:pt x="3737363" y="105461"/>
                      <a:pt x="3862441" y="214360"/>
                      <a:pt x="3890367" y="345711"/>
                    </a:cubicBezTo>
                    <a:cubicBezTo>
                      <a:pt x="4068108" y="385059"/>
                      <a:pt x="4201345" y="511468"/>
                      <a:pt x="4262368" y="639715"/>
                    </a:cubicBezTo>
                    <a:cubicBezTo>
                      <a:pt x="4310691" y="746131"/>
                      <a:pt x="4292874" y="841459"/>
                      <a:pt x="4245717" y="958518"/>
                    </a:cubicBezTo>
                    <a:cubicBezTo>
                      <a:pt x="4401493" y="1097908"/>
                      <a:pt x="4423080" y="1281304"/>
                      <a:pt x="4367348" y="1445962"/>
                    </a:cubicBezTo>
                    <a:cubicBezTo>
                      <a:pt x="4332734" y="1703138"/>
                      <a:pt x="4093320" y="1886680"/>
                      <a:pt x="3797570" y="1872645"/>
                    </a:cubicBezTo>
                    <a:cubicBezTo>
                      <a:pt x="3804290" y="2021151"/>
                      <a:pt x="3703676" y="2122222"/>
                      <a:pt x="3593600" y="2238259"/>
                    </a:cubicBezTo>
                    <a:cubicBezTo>
                      <a:pt x="3392453" y="2383965"/>
                      <a:pt x="3151968" y="2403389"/>
                      <a:pt x="2899145" y="2282527"/>
                    </a:cubicBezTo>
                    <a:cubicBezTo>
                      <a:pt x="2832406" y="2472690"/>
                      <a:pt x="2629599" y="2607331"/>
                      <a:pt x="2402874" y="2672569"/>
                    </a:cubicBezTo>
                    <a:cubicBezTo>
                      <a:pt x="2081833" y="2747845"/>
                      <a:pt x="1835603" y="2677015"/>
                      <a:pt x="1673189" y="2434489"/>
                    </a:cubicBezTo>
                    <a:cubicBezTo>
                      <a:pt x="1276670" y="2600276"/>
                      <a:pt x="849611" y="2471851"/>
                      <a:pt x="589271" y="2199261"/>
                    </a:cubicBezTo>
                    <a:cubicBezTo>
                      <a:pt x="383762" y="2231370"/>
                      <a:pt x="194853" y="2113213"/>
                      <a:pt x="112696" y="1937497"/>
                    </a:cubicBezTo>
                    <a:cubicBezTo>
                      <a:pt x="51361" y="1819493"/>
                      <a:pt x="107080" y="1660195"/>
                      <a:pt x="214529" y="1584160"/>
                    </a:cubicBezTo>
                    <a:cubicBezTo>
                      <a:pt x="64244" y="1495818"/>
                      <a:pt x="-17899" y="1356515"/>
                      <a:pt x="-508" y="1221646"/>
                    </a:cubicBezTo>
                    <a:cubicBezTo>
                      <a:pt x="-14515" y="1053864"/>
                      <a:pt x="193659" y="907170"/>
                      <a:pt x="392204" y="899432"/>
                    </a:cubicBezTo>
                    <a:cubicBezTo>
                      <a:pt x="393825" y="896263"/>
                      <a:pt x="395120" y="893761"/>
                      <a:pt x="395961" y="890939"/>
                    </a:cubicBezTo>
                    <a:close/>
                  </a:path>
                  <a:path w="4386030" h="2678397" fill="none" extrusionOk="0">
                    <a:moveTo>
                      <a:pt x="476473" y="1622972"/>
                    </a:moveTo>
                    <a:cubicBezTo>
                      <a:pt x="392968" y="1616840"/>
                      <a:pt x="298505" y="1609967"/>
                      <a:pt x="219301" y="1573558"/>
                    </a:cubicBezTo>
                    <a:moveTo>
                      <a:pt x="703389" y="2163735"/>
                    </a:moveTo>
                    <a:cubicBezTo>
                      <a:pt x="668946" y="2174599"/>
                      <a:pt x="630788" y="2182528"/>
                      <a:pt x="590895" y="2187357"/>
                    </a:cubicBezTo>
                    <a:moveTo>
                      <a:pt x="1672986" y="2423577"/>
                    </a:moveTo>
                    <a:cubicBezTo>
                      <a:pt x="1646091" y="2390927"/>
                      <a:pt x="1628853" y="2348226"/>
                      <a:pt x="1605165" y="2315697"/>
                    </a:cubicBezTo>
                    <a:moveTo>
                      <a:pt x="2926761" y="2154559"/>
                    </a:moveTo>
                    <a:cubicBezTo>
                      <a:pt x="2925864" y="2194861"/>
                      <a:pt x="2913242" y="2229119"/>
                      <a:pt x="2899653" y="2272917"/>
                    </a:cubicBezTo>
                    <a:moveTo>
                      <a:pt x="3465065" y="1423146"/>
                    </a:moveTo>
                    <a:cubicBezTo>
                      <a:pt x="3644329" y="1508139"/>
                      <a:pt x="3801203" y="1682763"/>
                      <a:pt x="3795134" y="1865577"/>
                    </a:cubicBezTo>
                    <a:moveTo>
                      <a:pt x="4243687" y="951946"/>
                    </a:moveTo>
                    <a:cubicBezTo>
                      <a:pt x="4207257" y="1024296"/>
                      <a:pt x="4174498" y="1067782"/>
                      <a:pt x="4096673" y="1117858"/>
                    </a:cubicBezTo>
                    <a:moveTo>
                      <a:pt x="3890977" y="336411"/>
                    </a:moveTo>
                    <a:cubicBezTo>
                      <a:pt x="3897578" y="359824"/>
                      <a:pt x="3899894" y="388797"/>
                      <a:pt x="3898693" y="414779"/>
                    </a:cubicBezTo>
                    <a:moveTo>
                      <a:pt x="2952244" y="245023"/>
                    </a:moveTo>
                    <a:cubicBezTo>
                      <a:pt x="2974573" y="203948"/>
                      <a:pt x="2998067" y="174760"/>
                      <a:pt x="3027579" y="145079"/>
                    </a:cubicBezTo>
                    <a:moveTo>
                      <a:pt x="2247941" y="292639"/>
                    </a:moveTo>
                    <a:cubicBezTo>
                      <a:pt x="2258352" y="263219"/>
                      <a:pt x="2268271" y="236697"/>
                      <a:pt x="2284390" y="206459"/>
                    </a:cubicBezTo>
                    <a:moveTo>
                      <a:pt x="1421398" y="321903"/>
                    </a:moveTo>
                    <a:cubicBezTo>
                      <a:pt x="1465887" y="343925"/>
                      <a:pt x="1518332" y="372988"/>
                      <a:pt x="1553385" y="405479"/>
                    </a:cubicBezTo>
                    <a:moveTo>
                      <a:pt x="419008" y="978916"/>
                    </a:moveTo>
                    <a:cubicBezTo>
                      <a:pt x="408452" y="945969"/>
                      <a:pt x="401632" y="920181"/>
                      <a:pt x="395961" y="890939"/>
                    </a:cubicBezTo>
                  </a:path>
                  <a:path w="4386030" h="2678397" stroke="0" extrusionOk="0">
                    <a:moveTo>
                      <a:pt x="395961" y="890939"/>
                    </a:moveTo>
                    <a:cubicBezTo>
                      <a:pt x="359527" y="717231"/>
                      <a:pt x="419648" y="557966"/>
                      <a:pt x="570894" y="428233"/>
                    </a:cubicBezTo>
                    <a:cubicBezTo>
                      <a:pt x="800562" y="233365"/>
                      <a:pt x="1085598" y="188898"/>
                      <a:pt x="1421906" y="322523"/>
                    </a:cubicBezTo>
                    <a:cubicBezTo>
                      <a:pt x="1550987" y="96177"/>
                      <a:pt x="2016147" y="32812"/>
                      <a:pt x="2279923" y="212783"/>
                    </a:cubicBezTo>
                    <a:cubicBezTo>
                      <a:pt x="2342176" y="102798"/>
                      <a:pt x="2486262" y="37165"/>
                      <a:pt x="2614256" y="12399"/>
                    </a:cubicBezTo>
                    <a:cubicBezTo>
                      <a:pt x="2787289" y="-4634"/>
                      <a:pt x="2934906" y="41005"/>
                      <a:pt x="3028898" y="153821"/>
                    </a:cubicBezTo>
                    <a:cubicBezTo>
                      <a:pt x="3142941" y="12530"/>
                      <a:pt x="3375598" y="-4317"/>
                      <a:pt x="3600504" y="42779"/>
                    </a:cubicBezTo>
                    <a:cubicBezTo>
                      <a:pt x="3750095" y="76168"/>
                      <a:pt x="3856209" y="217633"/>
                      <a:pt x="3890367" y="345711"/>
                    </a:cubicBezTo>
                    <a:cubicBezTo>
                      <a:pt x="4077696" y="392170"/>
                      <a:pt x="4229201" y="501571"/>
                      <a:pt x="4262368" y="639715"/>
                    </a:cubicBezTo>
                    <a:cubicBezTo>
                      <a:pt x="4289924" y="741896"/>
                      <a:pt x="4305143" y="863526"/>
                      <a:pt x="4245717" y="958518"/>
                    </a:cubicBezTo>
                    <a:cubicBezTo>
                      <a:pt x="4391852" y="1123981"/>
                      <a:pt x="4420085" y="1292795"/>
                      <a:pt x="4367348" y="1445962"/>
                    </a:cubicBezTo>
                    <a:cubicBezTo>
                      <a:pt x="4325248" y="1711077"/>
                      <a:pt x="4088477" y="1857355"/>
                      <a:pt x="3797570" y="1872645"/>
                    </a:cubicBezTo>
                    <a:cubicBezTo>
                      <a:pt x="3798122" y="2011561"/>
                      <a:pt x="3724944" y="2131851"/>
                      <a:pt x="3593600" y="2238259"/>
                    </a:cubicBezTo>
                    <a:cubicBezTo>
                      <a:pt x="3353082" y="2385199"/>
                      <a:pt x="3084911" y="2373246"/>
                      <a:pt x="2899145" y="2282527"/>
                    </a:cubicBezTo>
                    <a:cubicBezTo>
                      <a:pt x="2811848" y="2475585"/>
                      <a:pt x="2627577" y="2600678"/>
                      <a:pt x="2402874" y="2672569"/>
                    </a:cubicBezTo>
                    <a:cubicBezTo>
                      <a:pt x="2124680" y="2717399"/>
                      <a:pt x="1795028" y="2655314"/>
                      <a:pt x="1673189" y="2434489"/>
                    </a:cubicBezTo>
                    <a:cubicBezTo>
                      <a:pt x="1270270" y="2670513"/>
                      <a:pt x="866592" y="2560852"/>
                      <a:pt x="589271" y="2199261"/>
                    </a:cubicBezTo>
                    <a:cubicBezTo>
                      <a:pt x="373935" y="2236917"/>
                      <a:pt x="183410" y="2103373"/>
                      <a:pt x="112696" y="1937497"/>
                    </a:cubicBezTo>
                    <a:cubicBezTo>
                      <a:pt x="54403" y="1836136"/>
                      <a:pt x="101545" y="1679096"/>
                      <a:pt x="214529" y="1584160"/>
                    </a:cubicBezTo>
                    <a:cubicBezTo>
                      <a:pt x="64389" y="1513001"/>
                      <a:pt x="-30265" y="1372088"/>
                      <a:pt x="-508" y="1221646"/>
                    </a:cubicBezTo>
                    <a:cubicBezTo>
                      <a:pt x="29144" y="1022934"/>
                      <a:pt x="159162" y="915446"/>
                      <a:pt x="392204" y="899432"/>
                    </a:cubicBezTo>
                    <a:cubicBezTo>
                      <a:pt x="393653" y="896779"/>
                      <a:pt x="394598" y="894225"/>
                      <a:pt x="395961" y="890939"/>
                    </a:cubicBezTo>
                    <a:close/>
                  </a:path>
                  <a:path w="4386030" h="2678397" fill="none" stroke="0" extrusionOk="0">
                    <a:moveTo>
                      <a:pt x="476473" y="1622972"/>
                    </a:moveTo>
                    <a:cubicBezTo>
                      <a:pt x="390890" y="1612663"/>
                      <a:pt x="299361" y="1602582"/>
                      <a:pt x="219301" y="1573558"/>
                    </a:cubicBezTo>
                    <a:moveTo>
                      <a:pt x="703389" y="2163735"/>
                    </a:moveTo>
                    <a:cubicBezTo>
                      <a:pt x="666077" y="2182005"/>
                      <a:pt x="627214" y="2181213"/>
                      <a:pt x="590895" y="2187357"/>
                    </a:cubicBezTo>
                    <a:moveTo>
                      <a:pt x="1672986" y="2423577"/>
                    </a:moveTo>
                    <a:cubicBezTo>
                      <a:pt x="1649773" y="2392862"/>
                      <a:pt x="1615119" y="2355820"/>
                      <a:pt x="1605165" y="2315697"/>
                    </a:cubicBezTo>
                    <a:moveTo>
                      <a:pt x="2926761" y="2154559"/>
                    </a:moveTo>
                    <a:cubicBezTo>
                      <a:pt x="2916424" y="2196910"/>
                      <a:pt x="2913612" y="2231746"/>
                      <a:pt x="2899653" y="2272917"/>
                    </a:cubicBezTo>
                    <a:moveTo>
                      <a:pt x="3465065" y="1423146"/>
                    </a:moveTo>
                    <a:cubicBezTo>
                      <a:pt x="3664157" y="1507103"/>
                      <a:pt x="3795477" y="1700046"/>
                      <a:pt x="3795134" y="1865577"/>
                    </a:cubicBezTo>
                    <a:moveTo>
                      <a:pt x="4243687" y="951946"/>
                    </a:moveTo>
                    <a:cubicBezTo>
                      <a:pt x="4206464" y="1012226"/>
                      <a:pt x="4175366" y="1074077"/>
                      <a:pt x="4096673" y="1117858"/>
                    </a:cubicBezTo>
                    <a:moveTo>
                      <a:pt x="3890977" y="336411"/>
                    </a:moveTo>
                    <a:cubicBezTo>
                      <a:pt x="3892670" y="361893"/>
                      <a:pt x="3898413" y="388836"/>
                      <a:pt x="3898693" y="414779"/>
                    </a:cubicBezTo>
                    <a:moveTo>
                      <a:pt x="2952244" y="245023"/>
                    </a:moveTo>
                    <a:cubicBezTo>
                      <a:pt x="2968888" y="205912"/>
                      <a:pt x="2996814" y="173940"/>
                      <a:pt x="3027579" y="145079"/>
                    </a:cubicBezTo>
                    <a:moveTo>
                      <a:pt x="2247941" y="292639"/>
                    </a:moveTo>
                    <a:cubicBezTo>
                      <a:pt x="2254199" y="265021"/>
                      <a:pt x="2267321" y="235607"/>
                      <a:pt x="2284390" y="206459"/>
                    </a:cubicBezTo>
                    <a:moveTo>
                      <a:pt x="1421398" y="321903"/>
                    </a:moveTo>
                    <a:cubicBezTo>
                      <a:pt x="1463838" y="346532"/>
                      <a:pt x="1517029" y="382744"/>
                      <a:pt x="1553385" y="405479"/>
                    </a:cubicBezTo>
                    <a:moveTo>
                      <a:pt x="419008" y="978916"/>
                    </a:moveTo>
                    <a:cubicBezTo>
                      <a:pt x="403394" y="949253"/>
                      <a:pt x="400778" y="919307"/>
                      <a:pt x="395961" y="890939"/>
                    </a:cubicBezTo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Rounded Rectangle 303"/>
              <p:cNvSpPr/>
              <p:nvPr/>
            </p:nvSpPr>
            <p:spPr>
              <a:xfrm>
                <a:off x="4572033" y="2051100"/>
                <a:ext cx="983973" cy="964095"/>
              </a:xfrm>
              <a:prstGeom prst="roundRect">
                <a:avLst/>
              </a:prstGeom>
              <a:solidFill>
                <a:schemeClr val="accent1">
                  <a:alpha val="2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05" name="Picture 304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64796" y="2597284"/>
                <a:ext cx="551516" cy="367678"/>
              </a:xfrm>
              <a:prstGeom prst="rect">
                <a:avLst/>
              </a:prstGeom>
            </p:spPr>
          </p:pic>
          <p:sp>
            <p:nvSpPr>
              <p:cNvPr id="306" name="Rounded Rectangle 305"/>
              <p:cNvSpPr/>
              <p:nvPr/>
            </p:nvSpPr>
            <p:spPr>
              <a:xfrm>
                <a:off x="5084724" y="2585871"/>
                <a:ext cx="1575353" cy="758110"/>
              </a:xfrm>
              <a:prstGeom prst="roundRect">
                <a:avLst/>
              </a:prstGeom>
              <a:solidFill>
                <a:schemeClr val="accent1">
                  <a:alpha val="2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07" name="Picture 306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13021" y="2895204"/>
                <a:ext cx="566508" cy="366564"/>
              </a:xfrm>
              <a:prstGeom prst="rect">
                <a:avLst/>
              </a:prstGeom>
            </p:spPr>
          </p:pic>
          <p:sp>
            <p:nvSpPr>
              <p:cNvPr id="309" name="TextBox 308"/>
              <p:cNvSpPr txBox="1"/>
              <p:nvPr/>
            </p:nvSpPr>
            <p:spPr>
              <a:xfrm>
                <a:off x="6827090" y="4078312"/>
                <a:ext cx="3703788" cy="660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feature space</a:t>
                </a:r>
                <a:endParaRPr lang="en-US" sz="3200" dirty="0"/>
              </a:p>
            </p:txBody>
          </p:sp>
        </p:grpSp>
        <p:sp>
          <p:nvSpPr>
            <p:cNvPr id="301" name="TextBox 300"/>
            <p:cNvSpPr txBox="1"/>
            <p:nvPr/>
          </p:nvSpPr>
          <p:spPr>
            <a:xfrm>
              <a:off x="21282538" y="5992108"/>
              <a:ext cx="2542171" cy="660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batch dataset </a:t>
              </a:r>
              <a:endParaRPr lang="en-US" sz="3200" dirty="0"/>
            </a:p>
          </p:txBody>
        </p:sp>
      </p:grpSp>
      <p:pic>
        <p:nvPicPr>
          <p:cNvPr id="314" name="Picture 31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764793" y="24997858"/>
            <a:ext cx="7488659" cy="929044"/>
          </a:xfrm>
          <a:prstGeom prst="rect">
            <a:avLst/>
          </a:prstGeom>
        </p:spPr>
      </p:pic>
      <p:sp>
        <p:nvSpPr>
          <p:cNvPr id="370" name="TextBox 369"/>
          <p:cNvSpPr txBox="1"/>
          <p:nvPr/>
        </p:nvSpPr>
        <p:spPr>
          <a:xfrm>
            <a:off x="4764653" y="30484785"/>
            <a:ext cx="17605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Two-fold</a:t>
            </a:r>
            <a:endParaRPr lang="en-US" sz="2400" i="1" dirty="0"/>
          </a:p>
          <a:p>
            <a:r>
              <a:rPr lang="en-US" sz="2400" i="1" dirty="0"/>
              <a:t>subsampling</a:t>
            </a:r>
            <a:endParaRPr lang="en-US" sz="2400" i="1" dirty="0"/>
          </a:p>
        </p:txBody>
      </p:sp>
      <p:grpSp>
        <p:nvGrpSpPr>
          <p:cNvPr id="375" name="Group 374"/>
          <p:cNvGrpSpPr/>
          <p:nvPr/>
        </p:nvGrpSpPr>
        <p:grpSpPr>
          <a:xfrm>
            <a:off x="16969620" y="16665345"/>
            <a:ext cx="5682812" cy="815757"/>
            <a:chOff x="16955710" y="19112595"/>
            <a:chExt cx="5682812" cy="815757"/>
          </a:xfrm>
        </p:grpSpPr>
        <p:grpSp>
          <p:nvGrpSpPr>
            <p:cNvPr id="376" name="Group 375"/>
            <p:cNvGrpSpPr/>
            <p:nvPr/>
          </p:nvGrpSpPr>
          <p:grpSpPr>
            <a:xfrm>
              <a:off x="16955710" y="19343577"/>
              <a:ext cx="587789" cy="584775"/>
              <a:chOff x="883559" y="20181077"/>
              <a:chExt cx="587789" cy="584775"/>
            </a:xfrm>
          </p:grpSpPr>
          <p:sp>
            <p:nvSpPr>
              <p:cNvPr id="378" name="Triangle 377"/>
              <p:cNvSpPr>
                <a:spLocks noChangeAspect="1"/>
              </p:cNvSpPr>
              <p:nvPr/>
            </p:nvSpPr>
            <p:spPr>
              <a:xfrm rot="5400000">
                <a:off x="863759" y="20220821"/>
                <a:ext cx="237600" cy="198000"/>
              </a:xfrm>
              <a:prstGeom prst="triangl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9" name="TextBox 378"/>
              <p:cNvSpPr txBox="1"/>
              <p:nvPr/>
            </p:nvSpPr>
            <p:spPr>
              <a:xfrm>
                <a:off x="1286617" y="20181077"/>
                <a:ext cx="1847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3200" b="1" dirty="0"/>
              </a:p>
            </p:txBody>
          </p:sp>
        </p:grpSp>
        <p:sp>
          <p:nvSpPr>
            <p:cNvPr id="377" name="TextBox 376"/>
            <p:cNvSpPr txBox="1"/>
            <p:nvPr/>
          </p:nvSpPr>
          <p:spPr>
            <a:xfrm>
              <a:off x="17388943" y="19112595"/>
              <a:ext cx="524957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Partial feature coverage</a:t>
              </a:r>
              <a:endParaRPr lang="en-US" sz="4000" b="1" dirty="0"/>
            </a:p>
          </p:txBody>
        </p:sp>
      </p:grpSp>
      <p:grpSp>
        <p:nvGrpSpPr>
          <p:cNvPr id="380" name="Group 379"/>
          <p:cNvGrpSpPr/>
          <p:nvPr/>
        </p:nvGrpSpPr>
        <p:grpSpPr>
          <a:xfrm>
            <a:off x="17333833" y="33160457"/>
            <a:ext cx="9581280" cy="1213151"/>
            <a:chOff x="17049946" y="19343577"/>
            <a:chExt cx="9581280" cy="1213151"/>
          </a:xfrm>
        </p:grpSpPr>
        <p:grpSp>
          <p:nvGrpSpPr>
            <p:cNvPr id="381" name="Group 380"/>
            <p:cNvGrpSpPr/>
            <p:nvPr/>
          </p:nvGrpSpPr>
          <p:grpSpPr>
            <a:xfrm>
              <a:off x="17049946" y="19343577"/>
              <a:ext cx="493553" cy="964222"/>
              <a:chOff x="977795" y="20181077"/>
              <a:chExt cx="493553" cy="964222"/>
            </a:xfrm>
          </p:grpSpPr>
          <p:sp>
            <p:nvSpPr>
              <p:cNvPr id="383" name="Triangle 382"/>
              <p:cNvSpPr>
                <a:spLocks noChangeAspect="1"/>
              </p:cNvSpPr>
              <p:nvPr/>
            </p:nvSpPr>
            <p:spPr>
              <a:xfrm rot="5400000">
                <a:off x="957995" y="20927499"/>
                <a:ext cx="237600" cy="198000"/>
              </a:xfrm>
              <a:prstGeom prst="triangl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4" name="TextBox 383"/>
              <p:cNvSpPr txBox="1"/>
              <p:nvPr/>
            </p:nvSpPr>
            <p:spPr>
              <a:xfrm>
                <a:off x="1286617" y="20181077"/>
                <a:ext cx="1847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3200" b="1" dirty="0"/>
              </a:p>
            </p:txBody>
          </p:sp>
        </p:grpSp>
        <p:sp>
          <p:nvSpPr>
            <p:cNvPr id="382" name="TextBox 381"/>
            <p:cNvSpPr txBox="1"/>
            <p:nvPr/>
          </p:nvSpPr>
          <p:spPr>
            <a:xfrm>
              <a:off x="17439030" y="19848842"/>
              <a:ext cx="91921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Step 2: plan by pessimistic value iterations</a:t>
              </a:r>
              <a:endParaRPr lang="en-US" sz="4000" b="1" dirty="0">
                <a:effectLst/>
                <a:highlight>
                  <a:srgbClr val="FFFFFF"/>
                </a:highlight>
              </a:endParaRPr>
            </a:p>
          </p:txBody>
        </p:sp>
      </p:grpSp>
      <p:grpSp>
        <p:nvGrpSpPr>
          <p:cNvPr id="395" name="Group 394"/>
          <p:cNvGrpSpPr/>
          <p:nvPr/>
        </p:nvGrpSpPr>
        <p:grpSpPr>
          <a:xfrm>
            <a:off x="1133749" y="30450803"/>
            <a:ext cx="14697964" cy="4371340"/>
            <a:chOff x="1146207" y="31134169"/>
            <a:chExt cx="14697964" cy="437134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6" name="Rounded Rectangle 365"/>
                <p:cNvSpPr/>
                <p:nvPr/>
              </p:nvSpPr>
              <p:spPr>
                <a:xfrm>
                  <a:off x="1146207" y="31134169"/>
                  <a:ext cx="3390266" cy="1729957"/>
                </a:xfrm>
                <a:prstGeom prst="roundRect">
                  <a:avLst/>
                </a:prstGeom>
                <a:solidFill>
                  <a:srgbClr val="C00000">
                    <a:alpha val="18128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Input:</a:t>
                  </a:r>
                  <a:endParaRPr lang="en-US" sz="2800" b="1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batch dataset</a:t>
                  </a:r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feature mappings</a:t>
                  </a:r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parameters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en-US" sz="28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66" name="Rounded Rectangle 3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6207" y="31134169"/>
                  <a:ext cx="3390266" cy="1729957"/>
                </a:xfrm>
                <a:prstGeom prst="roundRect">
                  <a:avLst/>
                </a:prstGeom>
                <a:blipFill rotWithShape="1">
                  <a:blip r:embed="rId21"/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2" name="Rounded Rectangle 371"/>
            <p:cNvSpPr/>
            <p:nvPr/>
          </p:nvSpPr>
          <p:spPr>
            <a:xfrm>
              <a:off x="11899341" y="31244611"/>
              <a:ext cx="3944830" cy="1350770"/>
            </a:xfrm>
            <a:prstGeom prst="roundRect">
              <a:avLst/>
            </a:prstGeom>
            <a:solidFill>
              <a:srgbClr val="C00000">
                <a:alpha val="1812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Initialization:</a:t>
              </a:r>
              <a:endParaRPr lang="en-US" sz="2800" b="1" dirty="0">
                <a:solidFill>
                  <a:schemeClr val="tx1"/>
                </a:solidFill>
              </a:endParaRPr>
            </a:p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345" name="Picture 34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886622" y="31546060"/>
              <a:ext cx="327108" cy="505531"/>
            </a:xfrm>
            <a:prstGeom prst="rect">
              <a:avLst/>
            </a:prstGeom>
          </p:spPr>
        </p:pic>
        <p:pic>
          <p:nvPicPr>
            <p:cNvPr id="357" name="Picture 356"/>
            <p:cNvPicPr>
              <a:picLocks noChangeAspect="1"/>
            </p:cNvPicPr>
            <p:nvPr/>
          </p:nvPicPr>
          <p:blipFill rotWithShape="1">
            <a:blip r:embed="rId23"/>
            <a:srcRect r="49516"/>
            <a:stretch>
              <a:fillRect/>
            </a:stretch>
          </p:blipFill>
          <p:spPr>
            <a:xfrm>
              <a:off x="12073873" y="31981857"/>
              <a:ext cx="1804990" cy="399376"/>
            </a:xfrm>
            <a:prstGeom prst="rect">
              <a:avLst/>
            </a:prstGeom>
          </p:spPr>
        </p:pic>
        <p:pic>
          <p:nvPicPr>
            <p:cNvPr id="358" name="Picture 357"/>
            <p:cNvPicPr>
              <a:picLocks noChangeAspect="1"/>
            </p:cNvPicPr>
            <p:nvPr/>
          </p:nvPicPr>
          <p:blipFill rotWithShape="1">
            <a:blip r:embed="rId23"/>
            <a:srcRect l="55103" t="-15266" r="-93" b="-7271"/>
            <a:stretch>
              <a:fillRect/>
            </a:stretch>
          </p:blipFill>
          <p:spPr>
            <a:xfrm>
              <a:off x="14074800" y="31907201"/>
              <a:ext cx="1558088" cy="474032"/>
            </a:xfrm>
            <a:prstGeom prst="rect">
              <a:avLst/>
            </a:prstGeom>
          </p:spPr>
        </p:pic>
        <p:sp>
          <p:nvSpPr>
            <p:cNvPr id="367" name="Right Arrow 366"/>
            <p:cNvSpPr/>
            <p:nvPr/>
          </p:nvSpPr>
          <p:spPr>
            <a:xfrm>
              <a:off x="4817633" y="31876046"/>
              <a:ext cx="1544020" cy="467360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ounded Rectangle 367"/>
            <p:cNvSpPr/>
            <p:nvPr/>
          </p:nvSpPr>
          <p:spPr>
            <a:xfrm>
              <a:off x="6641284" y="31284879"/>
              <a:ext cx="3663188" cy="1350770"/>
            </a:xfrm>
            <a:prstGeom prst="roundRect">
              <a:avLst/>
            </a:prstGeom>
            <a:solidFill>
              <a:srgbClr val="C00000">
                <a:alpha val="1812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Preparation:</a:t>
              </a:r>
              <a:endParaRPr lang="en-US" sz="28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construct a </a:t>
              </a:r>
              <a:r>
                <a:rPr lang="en-US" sz="2800" b="1" dirty="0">
                  <a:solidFill>
                    <a:schemeClr val="tx1"/>
                  </a:solidFill>
                </a:rPr>
                <a:t>temporally independent </a:t>
              </a:r>
              <a:r>
                <a:rPr lang="en-US" sz="2800" dirty="0">
                  <a:solidFill>
                    <a:schemeClr val="tx1"/>
                  </a:solidFill>
                </a:rPr>
                <a:t>dataset  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371" name="Right Arrow 370"/>
            <p:cNvSpPr/>
            <p:nvPr/>
          </p:nvSpPr>
          <p:spPr>
            <a:xfrm>
              <a:off x="10358549" y="31837662"/>
              <a:ext cx="1332529" cy="467360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Bent Arrow 384"/>
            <p:cNvSpPr/>
            <p:nvPr/>
          </p:nvSpPr>
          <p:spPr>
            <a:xfrm rot="10800000">
              <a:off x="13514793" y="32731318"/>
              <a:ext cx="1235057" cy="1221424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41463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6" name="Rounded Rectangle 385"/>
            <p:cNvSpPr/>
            <p:nvPr/>
          </p:nvSpPr>
          <p:spPr>
            <a:xfrm>
              <a:off x="1272572" y="33077269"/>
              <a:ext cx="12089130" cy="2104390"/>
            </a:xfrm>
            <a:prstGeom prst="roundRect">
              <a:avLst/>
            </a:prstGeom>
            <a:solidFill>
              <a:srgbClr val="C00000">
                <a:alpha val="1812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" name="TextBox 388"/>
                <p:cNvSpPr txBox="1"/>
                <p:nvPr/>
              </p:nvSpPr>
              <p:spPr>
                <a:xfrm>
                  <a:off x="1475772" y="33162359"/>
                  <a:ext cx="12599035" cy="2343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sz="2800" dirty="0"/>
                    <a:t>For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charset="0"/>
                        </a:rPr>
                        <m:t>ℎ</m:t>
                      </m:r>
                      <m:r>
                        <a:rPr lang="en-US" sz="2800" b="0" i="1" smtClean="0">
                          <a:latin typeface="Cambria Math" panose="0204050305040603020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charset="0"/>
                        </a:rPr>
                        <m:t>,…, </m:t>
                      </m:r>
                      <m:r>
                        <a:rPr lang="en-US" sz="2800" b="0" i="1" smtClean="0">
                          <a:latin typeface="Cambria Math" panose="02040503050406030204" charset="0"/>
                        </a:rPr>
                        <m:t>1</m:t>
                      </m:r>
                    </m:oMath>
                  </a14:m>
                  <a:endParaRPr lang="en-US" sz="2800" b="0" dirty="0"/>
                </a:p>
                <a:p>
                  <a:r>
                    <a:rPr lang="en-US" dirty="0"/>
                    <a:t>		</a:t>
                  </a:r>
                  <a:r>
                    <a:rPr lang="en-US" sz="2800" dirty="0"/>
                    <a:t>Step1: construct a rectified dual form for the original constrained problem</a:t>
                  </a:r>
                  <a:endParaRPr lang="en-US" sz="2800" dirty="0"/>
                </a:p>
                <a:p>
                  <a:pPr marL="457200" lvl="1" indent="457200"/>
                  <a:r>
                    <a:rPr lang="en-US" sz="2800" dirty="0">
                      <a:sym typeface="+mn-ea"/>
                    </a:rPr>
                    <a:t>Step1: construct an empirical Bellman operator for Lin-RCMDPs</a:t>
                  </a:r>
                  <a:endParaRPr lang="en-US" sz="2800" dirty="0"/>
                </a:p>
                <a:p>
                  <a:r>
                    <a:rPr lang="en-US" sz="2800" dirty="0"/>
                    <a:t>		Step 2: plan by pessimistic value and optimistic constraint iterations</a:t>
                  </a:r>
                  <a:endParaRPr lang="en-US" sz="2800" dirty="0"/>
                </a:p>
                <a:p>
                  <a:endParaRPr lang="en-US" dirty="0"/>
                </a:p>
              </p:txBody>
            </p:sp>
          </mc:Choice>
          <mc:Fallback>
            <p:sp>
              <p:nvSpPr>
                <p:cNvPr id="389" name="TextBox 3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5772" y="33162359"/>
                  <a:ext cx="12599035" cy="2343150"/>
                </a:xfrm>
                <a:prstGeom prst="rect">
                  <a:avLst/>
                </a:prstGeom>
                <a:blipFill rotWithShape="1">
                  <a:blip r:embed="rId2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3" name="Triangle 392"/>
            <p:cNvSpPr>
              <a:spLocks noChangeAspect="1"/>
            </p:cNvSpPr>
            <p:nvPr/>
          </p:nvSpPr>
          <p:spPr>
            <a:xfrm rot="5400000">
              <a:off x="2161334" y="33755803"/>
              <a:ext cx="237600" cy="198000"/>
            </a:xfrm>
            <a:prstGeom prst="triangl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4" name="Triangle 393"/>
            <p:cNvSpPr>
              <a:spLocks noChangeAspect="1"/>
            </p:cNvSpPr>
            <p:nvPr/>
          </p:nvSpPr>
          <p:spPr>
            <a:xfrm rot="5400000">
              <a:off x="2161334" y="34198231"/>
              <a:ext cx="237600" cy="198000"/>
            </a:xfrm>
            <a:prstGeom prst="triangl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24" name="TextBox 423"/>
          <p:cNvSpPr txBox="1"/>
          <p:nvPr/>
        </p:nvSpPr>
        <p:spPr>
          <a:xfrm>
            <a:off x="29358821" y="327909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15" name="TextBox 414"/>
          <p:cNvSpPr txBox="1"/>
          <p:nvPr/>
        </p:nvSpPr>
        <p:spPr>
          <a:xfrm>
            <a:off x="17312005" y="30485159"/>
            <a:ext cx="12083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Empirical robust</a:t>
            </a:r>
            <a:r>
              <a:rPr lang="zh-CN" altLang="en-US" sz="3200" b="1" dirty="0">
                <a:solidFill>
                  <a:srgbClr val="C0000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Bellman operator: </a:t>
            </a:r>
            <a:r>
              <a:rPr lang="en-US" sz="3200" b="1" dirty="0"/>
              <a:t>approximate by ridge regression </a:t>
            </a:r>
            <a:endParaRPr lang="en-US" sz="3200" b="1" dirty="0"/>
          </a:p>
          <a:p>
            <a:endParaRPr lang="en-US" sz="2800" dirty="0"/>
          </a:p>
        </p:txBody>
      </p:sp>
      <p:sp>
        <p:nvSpPr>
          <p:cNvPr id="430" name="TextBox 429"/>
          <p:cNvSpPr txBox="1"/>
          <p:nvPr/>
        </p:nvSpPr>
        <p:spPr>
          <a:xfrm>
            <a:off x="983359" y="41057650"/>
            <a:ext cx="14332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Original robust Bellman operator: </a:t>
            </a:r>
            <a:r>
              <a:rPr lang="en-US" sz="3200" dirty="0"/>
              <a:t>by strong duality, we have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9" name="TextBox 438"/>
              <p:cNvSpPr txBox="1"/>
              <p:nvPr/>
            </p:nvSpPr>
            <p:spPr>
              <a:xfrm>
                <a:off x="8201641" y="41482782"/>
                <a:ext cx="30146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0000FF"/>
                    </a:solidFill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charset="0"/>
                      </a:rPr>
                      <m:t>𝑖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-th coordinate</a:t>
                </a:r>
                <a:endParaRPr 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439" name="TextBox 4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641" y="41482782"/>
                <a:ext cx="3014608" cy="523220"/>
              </a:xfrm>
              <a:prstGeom prst="rect">
                <a:avLst/>
              </a:prstGeom>
              <a:blipFill rotWithShape="1">
                <a:blip r:embed="rId25"/>
                <a:stretch>
                  <a:fillRect l="-20" t="-26" r="8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Arc 439"/>
          <p:cNvSpPr/>
          <p:nvPr/>
        </p:nvSpPr>
        <p:spPr>
          <a:xfrm rot="5400000">
            <a:off x="7755442" y="40786783"/>
            <a:ext cx="864266" cy="3170058"/>
          </a:xfrm>
          <a:prstGeom prst="arc">
            <a:avLst>
              <a:gd name="adj1" fmla="val 10263158"/>
              <a:gd name="adj2" fmla="val 16704904"/>
            </a:avLst>
          </a:prstGeom>
          <a:ln w="31750">
            <a:solidFill>
              <a:srgbClr val="0000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2" name="TextBox 441"/>
          <p:cNvSpPr txBox="1"/>
          <p:nvPr/>
        </p:nvSpPr>
        <p:spPr>
          <a:xfrm>
            <a:off x="8589810" y="43376675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3" name="TextBox 442"/>
          <p:cNvSpPr txBox="1"/>
          <p:nvPr/>
        </p:nvSpPr>
        <p:spPr>
          <a:xfrm>
            <a:off x="17500738" y="34332583"/>
            <a:ext cx="13491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Following the pessimistic principle, we then estimate the reward Q-function as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444" name="Rounded Rectangle 443"/>
          <p:cNvSpPr/>
          <p:nvPr/>
        </p:nvSpPr>
        <p:spPr>
          <a:xfrm>
            <a:off x="23065740" y="35210115"/>
            <a:ext cx="3955415" cy="1121410"/>
          </a:xfrm>
          <a:prstGeom prst="roundRect">
            <a:avLst>
              <a:gd name="adj" fmla="val 20420"/>
            </a:avLst>
          </a:prstGeom>
          <a:solidFill>
            <a:srgbClr val="FF0000">
              <a:alpha val="5000"/>
            </a:srgb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5" name="Right Arrow 444"/>
          <p:cNvSpPr/>
          <p:nvPr/>
        </p:nvSpPr>
        <p:spPr>
          <a:xfrm>
            <a:off x="27373116" y="35538852"/>
            <a:ext cx="885132" cy="41028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TextBox 445"/>
          <p:cNvSpPr txBox="1"/>
          <p:nvPr/>
        </p:nvSpPr>
        <p:spPr>
          <a:xfrm>
            <a:off x="28479750" y="34987865"/>
            <a:ext cx="4251325" cy="1322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Penalty function: address uncertainty in each dimension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7" name="TextBox 446"/>
              <p:cNvSpPr txBox="1"/>
              <p:nvPr/>
            </p:nvSpPr>
            <p:spPr>
              <a:xfrm>
                <a:off x="1133219" y="43198027"/>
                <a:ext cx="12234545" cy="630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However, we cannot directly have access to the ground-truth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charset="0"/>
                          </a:rPr>
                          <m:t>𝜃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charset="0"/>
                          </a:rPr>
                          <m:t>𝑗</m:t>
                        </m:r>
                        <m:r>
                          <a:rPr lang="en-US" sz="3200" b="0" i="1" smtClean="0">
                            <a:latin typeface="Cambria Math" panose="02040503050406030204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sz="3200" b="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0" i="1" smtClean="0">
                            <a:latin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latin typeface="Cambria Math" panose="02040503050406030204" charset="0"/>
                          </a:rPr>
                          <m:t>𝜇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charset="0"/>
                          </a:rPr>
                          <m:t>ℎ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b="0" dirty="0"/>
                  <a:t>.</a:t>
                </a:r>
                <a:endParaRPr lang="en-US" sz="2800" b="0" dirty="0"/>
              </a:p>
            </p:txBody>
          </p:sp>
        </mc:Choice>
        <mc:Fallback>
          <p:sp>
            <p:nvSpPr>
              <p:cNvPr id="447" name="TextBox 4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219" y="43198027"/>
                <a:ext cx="12234545" cy="630555"/>
              </a:xfrm>
              <a:prstGeom prst="rect">
                <a:avLst/>
              </a:prstGeom>
              <a:blipFill rotWithShape="1">
                <a:blip r:embed="rId26"/>
                <a:stretch>
                  <a:fillRect l="-3" t="-39" r="3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9" name="TextBox 448"/>
          <p:cNvSpPr txBox="1"/>
          <p:nvPr/>
        </p:nvSpPr>
        <p:spPr>
          <a:xfrm>
            <a:off x="17318834" y="25927136"/>
            <a:ext cx="9649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Samples can explore the feature space uniformly well.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450" name="Triangle 449"/>
          <p:cNvSpPr>
            <a:spLocks noChangeAspect="1"/>
          </p:cNvSpPr>
          <p:nvPr/>
        </p:nvSpPr>
        <p:spPr>
          <a:xfrm rot="5400000">
            <a:off x="17091598" y="26965112"/>
            <a:ext cx="237600" cy="198000"/>
          </a:xfrm>
          <a:prstGeom prst="triangl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1" name="TextBox 450"/>
              <p:cNvSpPr txBox="1"/>
              <p:nvPr/>
            </p:nvSpPr>
            <p:spPr>
              <a:xfrm>
                <a:off x="17500600" y="26777315"/>
                <a:ext cx="9999345" cy="1427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3200" b="1" dirty="0">
                    <a:highlight>
                      <a:srgbClr val="FFFFFF"/>
                    </a:highlight>
                  </a:rPr>
                  <a:t>Our results</a:t>
                </a:r>
                <a:r>
                  <a:rPr lang="en-US" sz="3200" b="1" dirty="0">
                    <a:effectLst/>
                    <a:highlight>
                      <a:srgbClr val="FFFFFF"/>
                    </a:highlight>
                  </a:rPr>
                  <a:t>: </a:t>
                </a:r>
                <a:r>
                  <a:rPr lang="en-US" sz="3200" dirty="0">
                    <a:highlight>
                      <a:srgbClr val="FFFFFF"/>
                    </a:highlight>
                  </a:rPr>
                  <a:t>t</a:t>
                </a:r>
                <a:r>
                  <a:rPr lang="en-US" sz="3200" dirty="0">
                    <a:effectLst/>
                    <a:highlight>
                      <a:srgbClr val="FFFFFF"/>
                    </a:highlight>
                  </a:rPr>
                  <a:t>o achieve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1" smtClean="0">
                        <a:effectLst/>
                        <a:highlight>
                          <a:srgbClr val="FFFFFF"/>
                        </a:highlight>
                        <a:latin typeface="Cambria Math" panose="02040503050406030204" charset="0"/>
                      </a:rPr>
                      <m:t>ϵ</m:t>
                    </m:r>
                  </m:oMath>
                </a14:m>
                <a:r>
                  <a:rPr lang="en-US" sz="3200" dirty="0">
                    <a:effectLst/>
                    <a:highlight>
                      <a:srgbClr val="FFFFFF"/>
                    </a:highlight>
                  </a:rPr>
                  <a:t>-sub-optimality gap, </a:t>
                </a:r>
                <a:r>
                  <a:rPr lang="en-US" sz="3200" dirty="0">
                    <a:highlight>
                      <a:srgbClr val="FFFFFF"/>
                    </a:highlight>
                  </a:rPr>
                  <a:t>CROP-VI needs</a:t>
                </a:r>
                <a:r>
                  <a:rPr lang="zh-CN" altLang="en-US" sz="3200" dirty="0">
                    <a:highlight>
                      <a:srgbClr val="FFFFFF"/>
                    </a:highlight>
                  </a:rPr>
                  <a:t> </a:t>
                </a:r>
                <a:r>
                  <a:rPr lang="en-US" altLang="zh-CN" sz="3200" dirty="0">
                    <a:highlight>
                      <a:srgbClr val="FFFFFF"/>
                    </a:highlight>
                  </a:rPr>
                  <a:t>at most </a:t>
                </a:r>
                <a:r>
                  <a:rPr lang="en-US" altLang="zh-CN" sz="3200" dirty="0">
                    <a:highlight>
                      <a:srgbClr val="FFFFFF"/>
                    </a:highlight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𝑂</m:t>
                        </m:r>
                      </m:e>
                    </m:acc>
                    <m:r>
                      <a:rPr lang="en-US" sz="3200" b="0" i="1" smtClean="0">
                        <a:highlight>
                          <a:srgbClr val="FFFFFF"/>
                        </a:highlight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f>
                      <m:fPr>
                        <m:ctrlPr>
                          <a:rPr lang="en-US" sz="3200" b="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highlight>
                                  <a:srgbClr val="FFFFFF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highlight>
                                  <a:srgbClr val="FFFFFF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3200" b="0" i="1" smtClean="0">
                                <a:highlight>
                                  <a:srgbClr val="FFFFFF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3200" b="0" i="1" smtClean="0">
                                <a:highlight>
                                  <a:srgbClr val="FFFFFF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highlight>
                                  <a:srgbClr val="FFFFFF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3200" b="0" i="1" smtClean="0">
                                <a:highlight>
                                  <a:srgbClr val="FFFFFF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3200" i="1" smtClean="0">
                            <a:highlight>
                              <a:srgbClr val="FFFFFF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𝜅</m:t>
                        </m:r>
                        <m:sSup>
                          <m:sSupPr>
                            <m:ctrlPr>
                              <a:rPr lang="en-US" sz="3200" i="1" smtClean="0">
                                <a:highlight>
                                  <a:srgbClr val="FFFFFF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sz="3200" i="1" smtClean="0">
                                <a:highlight>
                                  <a:srgbClr val="FFFFFF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3200" i="1" smtClean="0">
                                <a:highlight>
                                  <a:srgbClr val="FFFFFF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200" b="0" i="1" smtClean="0">
                        <a:highlight>
                          <a:srgbClr val="FFFFFF"/>
                        </a:highlight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highlight>
                      <a:srgbClr val="FFFFFF"/>
                    </a:highlight>
                    <a:sym typeface="+mn-ea"/>
                  </a:rPr>
                  <a:t> </a:t>
                </a:r>
                <a:r>
                  <a:rPr lang="en-US" altLang="zh-CN" sz="3200" dirty="0">
                    <a:highlight>
                      <a:srgbClr val="FFFFFF"/>
                    </a:highlight>
                  </a:rPr>
                  <a:t> samples</a:t>
                </a:r>
                <a:r>
                  <a:rPr lang="en-US" altLang="zh-CN" sz="3200" dirty="0">
                    <a:highlight>
                      <a:srgbClr val="FFFFFF"/>
                    </a:highlight>
                    <a:latin typeface="CMSSBX10"/>
                  </a:rPr>
                  <a:t>.</a:t>
                </a:r>
                <a:endParaRPr lang="en-US" sz="3200" dirty="0">
                  <a:effectLst/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451" name="TextBox 4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0600" y="26777315"/>
                <a:ext cx="9999345" cy="1427480"/>
              </a:xfrm>
              <a:prstGeom prst="rec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8" name="Group 457"/>
          <p:cNvGrpSpPr/>
          <p:nvPr/>
        </p:nvGrpSpPr>
        <p:grpSpPr>
          <a:xfrm>
            <a:off x="983393" y="26571898"/>
            <a:ext cx="14887575" cy="1199515"/>
            <a:chOff x="899015" y="20052737"/>
            <a:chExt cx="14887575" cy="1199515"/>
          </a:xfrm>
        </p:grpSpPr>
        <p:sp>
          <p:nvSpPr>
            <p:cNvPr id="459" name="Triangle 458"/>
            <p:cNvSpPr>
              <a:spLocks noChangeAspect="1"/>
            </p:cNvSpPr>
            <p:nvPr/>
          </p:nvSpPr>
          <p:spPr>
            <a:xfrm rot="5400000">
              <a:off x="879215" y="20446246"/>
              <a:ext cx="237600" cy="198000"/>
            </a:xfrm>
            <a:prstGeom prst="triangl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0" name="TextBox 459"/>
                <p:cNvSpPr txBox="1"/>
                <p:nvPr/>
              </p:nvSpPr>
              <p:spPr>
                <a:xfrm>
                  <a:off x="1252075" y="20052737"/>
                  <a:ext cx="14534515" cy="1199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sz="4000" b="1" dirty="0"/>
                    <a:t>Learning goal: </a:t>
                  </a:r>
                  <a:r>
                    <a:rPr lang="en-US" sz="4000" dirty="0"/>
                    <a:t>Given the dataset                                                                     from the nominal environment, find an </a:t>
                  </a:r>
                  <a14:m>
                    <m:oMath xmlns:m="http://schemas.openxmlformats.org/officeDocument/2006/math">
                      <m:r>
                        <a:rPr lang="en-US" sz="4000" b="0" i="1" smtClean="0">
                          <a:effectLst/>
                          <a:highlight>
                            <a:srgbClr val="FFFFFF"/>
                          </a:highlight>
                          <a:latin typeface="Cambria Math" panose="02040503050406030204" charset="0"/>
                        </a:rPr>
                        <m:t>𝜖</m:t>
                      </m:r>
                      <m:r>
                        <a:rPr lang="en-US" sz="4000" b="0" i="1" smtClean="0">
                          <a:effectLst/>
                          <a:highlight>
                            <a:srgbClr val="FFFFFF"/>
                          </a:highlight>
                          <a:latin typeface="Cambria Math" panose="02040503050406030204" charset="0"/>
                        </a:rPr>
                        <m:t>−</m:t>
                      </m:r>
                    </m:oMath>
                  </a14:m>
                  <a:r>
                    <a:rPr lang="en-US" sz="4000" dirty="0"/>
                    <a:t>robust policy</a:t>
                  </a:r>
                  <a14:m>
                    <m:oMath xmlns:m="http://schemas.openxmlformats.org/officeDocument/2006/math">
                      <m:r>
                        <a:rPr lang="en-US" sz="4000" b="0" i="1" dirty="0" smtClean="0">
                          <a:effectLst/>
                          <a:highlight>
                            <a:srgbClr val="FFFFFF"/>
                          </a:highlight>
                          <a:latin typeface="Cambria Math" panose="02040503050406030204" charset="0"/>
                        </a:rPr>
                        <m:t> </m:t>
                      </m:r>
                      <m:acc>
                        <m:accPr>
                          <m:ctrlPr>
                            <a:rPr lang="en-US" sz="4000" i="1" dirty="0" smtClean="0">
                              <a:effectLst/>
                              <a:highlight>
                                <a:srgbClr val="FFFFFF"/>
                              </a:highlight>
                              <a:latin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000" b="0" i="1" dirty="0" smtClean="0">
                              <a:effectLst/>
                              <a:highlight>
                                <a:srgbClr val="FFFFFF"/>
                              </a:highlight>
                              <a:latin typeface="Cambria Math" panose="02040503050406030204" charset="0"/>
                            </a:rPr>
                            <m:t>𝜋</m:t>
                          </m:r>
                        </m:e>
                      </m:acc>
                    </m:oMath>
                  </a14:m>
                  <a:r>
                    <a:rPr lang="en-US" sz="4000" dirty="0">
                      <a:effectLst/>
                      <a:highlight>
                        <a:srgbClr val="FFFFFF"/>
                      </a:highlight>
                      <a:latin typeface="CMSS10"/>
                    </a:rPr>
                    <a:t> </a:t>
                  </a:r>
                  <a:r>
                    <a:rPr lang="en-US" sz="4000" dirty="0"/>
                    <a:t>such that </a:t>
                  </a:r>
                  <a:endParaRPr lang="en-US" sz="4000" dirty="0"/>
                </a:p>
              </p:txBody>
            </p:sp>
          </mc:Choice>
          <mc:Fallback>
            <p:sp>
              <p:nvSpPr>
                <p:cNvPr id="460" name="TextBox 4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2075" y="20052737"/>
                  <a:ext cx="14534515" cy="1199515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2" name="TextBox 461"/>
          <p:cNvSpPr txBox="1"/>
          <p:nvPr/>
        </p:nvSpPr>
        <p:spPr>
          <a:xfrm>
            <a:off x="9881952" y="13819238"/>
            <a:ext cx="63358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We use the uncertainty set around the nominal transition kernel to characterize the sim-to-real gap.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481" name="Arc 480"/>
          <p:cNvSpPr/>
          <p:nvPr/>
        </p:nvSpPr>
        <p:spPr>
          <a:xfrm rot="10567162">
            <a:off x="7756164" y="13868996"/>
            <a:ext cx="1953975" cy="1199112"/>
          </a:xfrm>
          <a:prstGeom prst="arc">
            <a:avLst>
              <a:gd name="adj1" fmla="val 994060"/>
              <a:gd name="adj2" fmla="val 9908657"/>
            </a:avLst>
          </a:prstGeom>
          <a:ln w="317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0000"/>
              </a:highlight>
            </a:endParaRPr>
          </a:p>
        </p:txBody>
      </p:sp>
      <p:sp>
        <p:nvSpPr>
          <p:cNvPr id="484" name="Triangle 483"/>
          <p:cNvSpPr>
            <a:spLocks noChangeAspect="1"/>
          </p:cNvSpPr>
          <p:nvPr/>
        </p:nvSpPr>
        <p:spPr>
          <a:xfrm rot="5400000">
            <a:off x="1324419" y="16837135"/>
            <a:ext cx="237600" cy="198000"/>
          </a:xfrm>
          <a:prstGeom prst="triangl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97" name="Group 496"/>
          <p:cNvGrpSpPr/>
          <p:nvPr/>
        </p:nvGrpSpPr>
        <p:grpSpPr>
          <a:xfrm>
            <a:off x="1340155" y="21513613"/>
            <a:ext cx="11006611" cy="584775"/>
            <a:chOff x="1329676" y="20657700"/>
            <a:chExt cx="11006611" cy="584775"/>
          </a:xfrm>
        </p:grpSpPr>
        <p:sp>
          <p:nvSpPr>
            <p:cNvPr id="487" name="Triangle 486"/>
            <p:cNvSpPr>
              <a:spLocks noChangeAspect="1"/>
            </p:cNvSpPr>
            <p:nvPr/>
          </p:nvSpPr>
          <p:spPr>
            <a:xfrm rot="5400000">
              <a:off x="1309876" y="20804484"/>
              <a:ext cx="237600" cy="198000"/>
            </a:xfrm>
            <a:prstGeom prst="triangl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TextBox 487"/>
            <p:cNvSpPr txBox="1"/>
            <p:nvPr/>
          </p:nvSpPr>
          <p:spPr>
            <a:xfrm>
              <a:off x="1656376" y="20657700"/>
              <a:ext cx="106799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effectLst/>
                  <a:highlight>
                    <a:srgbClr val="FFFFFF"/>
                  </a:highlight>
                </a:rPr>
                <a:t>Decoupling the distribution shift into each feature dimension</a:t>
              </a:r>
              <a:r>
                <a:rPr lang="en-US" sz="1800" dirty="0">
                  <a:effectLst/>
                  <a:highlight>
                    <a:srgbClr val="FFFFFF"/>
                  </a:highlight>
                  <a:latin typeface="CMSS10"/>
                </a:rPr>
                <a:t>: </a:t>
              </a:r>
              <a:endParaRPr lang="en-US" dirty="0">
                <a:effectLst/>
                <a:highlight>
                  <a:srgbClr val="FFFFFF"/>
                </a:highlight>
              </a:endParaRPr>
            </a:p>
          </p:txBody>
        </p:sp>
      </p:grpSp>
      <p:pic>
        <p:nvPicPr>
          <p:cNvPr id="491" name="Picture 49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23665" y="16660516"/>
            <a:ext cx="2289446" cy="521646"/>
          </a:xfrm>
          <a:prstGeom prst="rect">
            <a:avLst/>
          </a:prstGeom>
        </p:spPr>
      </p:pic>
      <p:sp>
        <p:nvSpPr>
          <p:cNvPr id="492" name="TextBox 491"/>
          <p:cNvSpPr txBox="1"/>
          <p:nvPr/>
        </p:nvSpPr>
        <p:spPr>
          <a:xfrm>
            <a:off x="3956795" y="16703205"/>
            <a:ext cx="3550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: feature mapping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3" name="TextBox 492"/>
              <p:cNvSpPr txBox="1"/>
              <p:nvPr/>
            </p:nvSpPr>
            <p:spPr>
              <a:xfrm>
                <a:off x="1755220" y="17595223"/>
                <a:ext cx="539472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Note that the number of features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 panose="02040503050406030204" charset="0"/>
                      </a:rPr>
                      <m:t>𝒅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</a:rPr>
                  <a:t> is much smaller than the size of state space.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93" name="TextBox 4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220" y="17595223"/>
                <a:ext cx="5394720" cy="1384995"/>
              </a:xfrm>
              <a:prstGeom prst="rect">
                <a:avLst/>
              </a:prstGeom>
              <a:blipFill rotWithShape="1">
                <a:blip r:embed="rId30"/>
                <a:stretch>
                  <a:fillRect l="-1" t="-1" r="9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0" name="Picture 499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62282" y="20790570"/>
            <a:ext cx="14487868" cy="629463"/>
          </a:xfrm>
          <a:prstGeom prst="rect">
            <a:avLst/>
          </a:prstGeom>
        </p:spPr>
      </p:pic>
      <p:sp>
        <p:nvSpPr>
          <p:cNvPr id="502" name="Triangle 501"/>
          <p:cNvSpPr>
            <a:spLocks noChangeAspect="1"/>
          </p:cNvSpPr>
          <p:nvPr/>
        </p:nvSpPr>
        <p:spPr>
          <a:xfrm rot="5400000">
            <a:off x="9823136" y="23331464"/>
            <a:ext cx="237600" cy="198000"/>
          </a:xfrm>
          <a:prstGeom prst="triangl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TextBox 502"/>
          <p:cNvSpPr txBox="1"/>
          <p:nvPr/>
        </p:nvSpPr>
        <p:spPr>
          <a:xfrm>
            <a:off x="10135321" y="23182215"/>
            <a:ext cx="61498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Robust value/Q function: </a:t>
            </a:r>
            <a:r>
              <a:rPr lang="en-US" sz="2800" dirty="0"/>
              <a:t>measure </a:t>
            </a:r>
            <a:r>
              <a:rPr lang="en-US" sz="2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accumulative rewards in the </a:t>
            </a:r>
            <a:r>
              <a:rPr lang="en-US" sz="28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worst case</a:t>
            </a:r>
            <a:r>
              <a:rPr lang="en-US" sz="2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of performing in the transition kernel inside the uncertainty set.</a:t>
            </a:r>
            <a:r>
              <a:rPr lang="en-US" sz="2800" dirty="0">
                <a:effectLst/>
              </a:rPr>
              <a:t> </a:t>
            </a:r>
            <a:endParaRPr lang="en-US" sz="2800" dirty="0"/>
          </a:p>
        </p:txBody>
      </p:sp>
      <p:sp>
        <p:nvSpPr>
          <p:cNvPr id="507" name="TextBox 506"/>
          <p:cNvSpPr txBox="1"/>
          <p:nvPr/>
        </p:nvSpPr>
        <p:spPr>
          <a:xfrm>
            <a:off x="1518993" y="28197994"/>
            <a:ext cx="43545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Sub-optimality gap:</a:t>
            </a:r>
            <a:endParaRPr lang="en-US" sz="4000" b="1" dirty="0">
              <a:solidFill>
                <a:srgbClr val="C00000"/>
              </a:solidFill>
            </a:endParaRPr>
          </a:p>
        </p:txBody>
      </p:sp>
      <p:grpSp>
        <p:nvGrpSpPr>
          <p:cNvPr id="581" name="Group 580"/>
          <p:cNvGrpSpPr/>
          <p:nvPr/>
        </p:nvGrpSpPr>
        <p:grpSpPr>
          <a:xfrm>
            <a:off x="17200726" y="11117402"/>
            <a:ext cx="11057167" cy="862649"/>
            <a:chOff x="16955710" y="19065703"/>
            <a:chExt cx="11057167" cy="862649"/>
          </a:xfrm>
        </p:grpSpPr>
        <p:grpSp>
          <p:nvGrpSpPr>
            <p:cNvPr id="582" name="Group 581"/>
            <p:cNvGrpSpPr/>
            <p:nvPr/>
          </p:nvGrpSpPr>
          <p:grpSpPr>
            <a:xfrm>
              <a:off x="16955710" y="19273087"/>
              <a:ext cx="587789" cy="655265"/>
              <a:chOff x="883559" y="20110587"/>
              <a:chExt cx="587789" cy="655265"/>
            </a:xfrm>
          </p:grpSpPr>
          <p:sp>
            <p:nvSpPr>
              <p:cNvPr id="584" name="Triangle 583"/>
              <p:cNvSpPr>
                <a:spLocks noChangeAspect="1"/>
              </p:cNvSpPr>
              <p:nvPr/>
            </p:nvSpPr>
            <p:spPr>
              <a:xfrm rot="5400000">
                <a:off x="863759" y="20130387"/>
                <a:ext cx="237600" cy="198000"/>
              </a:xfrm>
              <a:prstGeom prst="triangl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5" name="TextBox 584"/>
              <p:cNvSpPr txBox="1"/>
              <p:nvPr/>
            </p:nvSpPr>
            <p:spPr>
              <a:xfrm>
                <a:off x="1286617" y="20181077"/>
                <a:ext cx="1847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3200" b="1" dirty="0"/>
              </a:p>
            </p:txBody>
          </p:sp>
        </p:grpSp>
        <p:sp>
          <p:nvSpPr>
            <p:cNvPr id="583" name="TextBox 582"/>
            <p:cNvSpPr txBox="1"/>
            <p:nvPr/>
          </p:nvSpPr>
          <p:spPr>
            <a:xfrm>
              <a:off x="17388943" y="19065703"/>
              <a:ext cx="1062393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Arbitrary: without any data coverage assumption</a:t>
              </a:r>
              <a:endParaRPr lang="en-US" sz="4000" b="1" dirty="0"/>
            </a:p>
          </p:txBody>
        </p:sp>
      </p:grpSp>
      <p:pic>
        <p:nvPicPr>
          <p:cNvPr id="591" name="Graphic 590" descr="C:/Users/43489/Downloads/42_Robust_Constrained_Offline_ (1).png42_Robust_Constrained_Offline_ (1)"/>
          <p:cNvPicPr>
            <a:picLocks noChangeAspect="1"/>
          </p:cNvPicPr>
          <p:nvPr/>
        </p:nvPicPr>
        <p:blipFill>
          <a:blip r:embed="rId32"/>
          <a:srcRect t="11" b="11"/>
          <a:stretch>
            <a:fillRect/>
          </a:stretch>
        </p:blipFill>
        <p:spPr>
          <a:xfrm>
            <a:off x="29144018" y="308114"/>
            <a:ext cx="2786989" cy="2786989"/>
          </a:xfrm>
          <a:prstGeom prst="rect">
            <a:avLst/>
          </a:prstGeom>
        </p:spPr>
      </p:pic>
      <p:sp>
        <p:nvSpPr>
          <p:cNvPr id="596" name="TextBox 595"/>
          <p:cNvSpPr txBox="1"/>
          <p:nvPr/>
        </p:nvSpPr>
        <p:spPr>
          <a:xfrm>
            <a:off x="28885879" y="3225607"/>
            <a:ext cx="3272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Our paper is here!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2" name="图片 1" descr="logo_shanghaitech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71450" y="2127885"/>
            <a:ext cx="6283960" cy="1682750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817528" y="14228173"/>
          <a:ext cx="7023606" cy="877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AxMath" r:id="rId34" imgW="1828800" imgH="1828800" progId="Equation.AxMath">
                  <p:embed/>
                </p:oleObj>
              </mc:Choice>
              <mc:Fallback>
                <p:oleObj name="AxMath" r:id="rId34" imgW="1828800" imgH="1828800" progId="Equation.AxMath">
                  <p:embed/>
                  <p:pic>
                    <p:nvPicPr>
                      <p:cNvPr id="0" name="图片 1040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817528" y="14228173"/>
                        <a:ext cx="7023606" cy="877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03475" y="2533650"/>
          <a:ext cx="379413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AxMath" r:id="rId36" imgW="1828800" imgH="1828800" progId="Equation.AxMath">
                  <p:embed/>
                </p:oleObj>
              </mc:Choice>
              <mc:Fallback>
                <p:oleObj name="AxMath" r:id="rId36" imgW="1828800" imgH="1828800" progId="Equation.AxMath">
                  <p:embed/>
                  <p:pic>
                    <p:nvPicPr>
                      <p:cNvPr id="0" name="图片 1041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403475" y="2533650"/>
                        <a:ext cx="379413" cy="239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225365" y="15694752"/>
          <a:ext cx="8157230" cy="1837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AxMath" r:id="rId38" imgW="1828800" imgH="1828800" progId="Equation.AxMath">
                  <p:embed/>
                </p:oleObj>
              </mc:Choice>
              <mc:Fallback>
                <p:oleObj name="AxMath" r:id="rId38" imgW="1828800" imgH="1828800" progId="Equation.AxMath">
                  <p:embed/>
                  <p:pic>
                    <p:nvPicPr>
                      <p:cNvPr id="0" name="图片 1042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225365" y="15694752"/>
                        <a:ext cx="8157230" cy="18378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780508" y="17481269"/>
            <a:ext cx="6658664" cy="2596533"/>
          </a:xfrm>
          <a:prstGeom prst="rect">
            <a:avLst/>
          </a:prstGeom>
        </p:spPr>
      </p:pic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367915" y="22085935"/>
          <a:ext cx="12176125" cy="1094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AxMath" r:id="rId41" imgW="4135120" imgH="426085" progId="Equation.AxMath">
                  <p:embed/>
                </p:oleObj>
              </mc:Choice>
              <mc:Fallback>
                <p:oleObj name="AxMath" r:id="rId41" imgW="4135120" imgH="426085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367915" y="22085935"/>
                        <a:ext cx="12176125" cy="1094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 descr="0ba3532e-00e1-4cce-b00e-3e699bf6d26f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96595" y="23311485"/>
            <a:ext cx="8788400" cy="3105785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0135235" y="24998045"/>
          <a:ext cx="4643755" cy="1574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AxMath" r:id="rId44" imgW="2036445" imgH="713105" progId="Equation.AxMath">
                  <p:embed/>
                </p:oleObj>
              </mc:Choice>
              <mc:Fallback>
                <p:oleObj name="AxMath" r:id="rId44" imgW="2036445" imgH="713105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0135235" y="24998045"/>
                        <a:ext cx="4643755" cy="1574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331835" y="26659523"/>
          <a:ext cx="544893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AxMath" r:id="rId46" imgW="2389505" imgH="255270" progId="Equation.AxMath">
                  <p:embed/>
                </p:oleObj>
              </mc:Choice>
              <mc:Fallback>
                <p:oleObj name="AxMath" r:id="rId46" imgW="2389505" imgH="255270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8331835" y="26659523"/>
                        <a:ext cx="5448935" cy="56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835458" y="28026678"/>
          <a:ext cx="7282815" cy="9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AxMath" r:id="rId48" imgW="1932305" imgH="254635" progId="Equation.AxMath">
                  <p:embed/>
                </p:oleObj>
              </mc:Choice>
              <mc:Fallback>
                <p:oleObj name="AxMath" r:id="rId48" imgW="1932305" imgH="254635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6835458" y="28026678"/>
                        <a:ext cx="7282815" cy="932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6829405" y="4723130"/>
            <a:ext cx="15134590" cy="5201920"/>
          </a:xfrm>
          <a:prstGeom prst="rect">
            <a:avLst/>
          </a:prstGeom>
        </p:spPr>
      </p:pic>
      <p:sp>
        <p:nvSpPr>
          <p:cNvPr id="11" name="Triangle 393"/>
          <p:cNvSpPr>
            <a:spLocks noChangeAspect="1"/>
          </p:cNvSpPr>
          <p:nvPr/>
        </p:nvSpPr>
        <p:spPr>
          <a:xfrm rot="5400000">
            <a:off x="2148876" y="33932060"/>
            <a:ext cx="237600" cy="198000"/>
          </a:xfrm>
          <a:prstGeom prst="triangl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919798" y="35501898"/>
          <a:ext cx="5325745" cy="2199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AxMath" r:id="rId51" imgW="1412875" imgH="600710" progId="Equation.AxMath">
                  <p:embed/>
                </p:oleObj>
              </mc:Choice>
              <mc:Fallback>
                <p:oleObj name="AxMath" r:id="rId51" imgW="1412875" imgH="600710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919798" y="35501898"/>
                        <a:ext cx="5325745" cy="2199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ight Arrow 370"/>
          <p:cNvSpPr/>
          <p:nvPr/>
        </p:nvSpPr>
        <p:spPr>
          <a:xfrm>
            <a:off x="6191921" y="36258426"/>
            <a:ext cx="1332529" cy="46736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796849" y="36113086"/>
          <a:ext cx="9172575" cy="1237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AxMath" r:id="rId53" imgW="2433320" imgH="337820" progId="Equation.AxMath">
                  <p:embed/>
                </p:oleObj>
              </mc:Choice>
              <mc:Fallback>
                <p:oleObj name="AxMath" r:id="rId53" imgW="2433320" imgH="337820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7796849" y="36113086"/>
                        <a:ext cx="9172575" cy="1237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5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13105" y="37763450"/>
            <a:ext cx="15124430" cy="2171700"/>
          </a:xfrm>
          <a:prstGeom prst="rect">
            <a:avLst/>
          </a:prstGeom>
        </p:spPr>
      </p:pic>
      <p:grpSp>
        <p:nvGrpSpPr>
          <p:cNvPr id="29" name="Group 193"/>
          <p:cNvGrpSpPr/>
          <p:nvPr/>
        </p:nvGrpSpPr>
        <p:grpSpPr>
          <a:xfrm>
            <a:off x="746044" y="40253610"/>
            <a:ext cx="14193669" cy="1322070"/>
            <a:chOff x="17250478" y="19265045"/>
            <a:chExt cx="14193669" cy="1322070"/>
          </a:xfrm>
        </p:grpSpPr>
        <p:grpSp>
          <p:nvGrpSpPr>
            <p:cNvPr id="30" name="Group 186"/>
            <p:cNvGrpSpPr/>
            <p:nvPr/>
          </p:nvGrpSpPr>
          <p:grpSpPr>
            <a:xfrm>
              <a:off x="17250478" y="19343577"/>
              <a:ext cx="293021" cy="584775"/>
              <a:chOff x="1178327" y="20181077"/>
              <a:chExt cx="293021" cy="584775"/>
            </a:xfrm>
          </p:grpSpPr>
          <p:sp>
            <p:nvSpPr>
              <p:cNvPr id="31" name="Triangle 187"/>
              <p:cNvSpPr>
                <a:spLocks noChangeAspect="1"/>
              </p:cNvSpPr>
              <p:nvPr/>
            </p:nvSpPr>
            <p:spPr>
              <a:xfrm rot="5400000">
                <a:off x="1158527" y="20362263"/>
                <a:ext cx="237600" cy="198000"/>
              </a:xfrm>
              <a:prstGeom prst="triangle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TextBox 188"/>
              <p:cNvSpPr txBox="1"/>
              <p:nvPr/>
            </p:nvSpPr>
            <p:spPr>
              <a:xfrm>
                <a:off x="1286617" y="20181077"/>
                <a:ext cx="1847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3200" b="1" dirty="0"/>
              </a:p>
            </p:txBody>
          </p:sp>
        </p:grpSp>
        <p:sp>
          <p:nvSpPr>
            <p:cNvPr id="33" name="TextBox 192"/>
            <p:cNvSpPr txBox="1"/>
            <p:nvPr/>
          </p:nvSpPr>
          <p:spPr>
            <a:xfrm>
              <a:off x="17662107" y="19265045"/>
              <a:ext cx="13782040" cy="13220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4000" b="1" dirty="0"/>
                <a:t>Step 2: </a:t>
              </a:r>
              <a:r>
                <a:rPr lang="en-US" sz="4000" b="1" dirty="0">
                  <a:effectLst/>
                  <a:highlight>
                    <a:srgbClr val="FFFFFF"/>
                  </a:highlight>
                </a:rPr>
                <a:t>construct an emperical Bellman operator for Lin-RCMDPS</a:t>
              </a:r>
              <a:endParaRPr lang="en-US" sz="4000" dirty="0">
                <a:highlight>
                  <a:srgbClr val="FFFFFF"/>
                </a:highlight>
              </a:endParaRPr>
            </a:p>
            <a:p>
              <a:pPr algn="l"/>
              <a:r>
                <a:rPr lang="en-US" sz="4000" b="1" dirty="0">
                  <a:effectLst/>
                  <a:highlight>
                    <a:srgbClr val="FFFFFF"/>
                  </a:highlight>
                </a:rPr>
                <a:t> </a:t>
              </a:r>
              <a:endParaRPr lang="en-US" sz="4000" b="1" dirty="0">
                <a:effectLst/>
                <a:highlight>
                  <a:srgbClr val="FFFFFF"/>
                </a:highlight>
              </a:endParaRPr>
            </a:p>
          </p:txBody>
        </p:sp>
      </p:grp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211705" y="41687115"/>
          <a:ext cx="574548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AxMath" r:id="rId56" imgW="2520950" imgH="250825" progId="Equation.AxMath">
                  <p:embed/>
                </p:oleObj>
              </mc:Choice>
              <mc:Fallback>
                <p:oleObj name="AxMath" r:id="rId56" imgW="2520950" imgH="250825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2211705" y="41687115"/>
                        <a:ext cx="5745480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1180783" y="42327195"/>
          <a:ext cx="82454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AxMath" r:id="rId58" imgW="4440555" imgH="450215" progId="Equation.AxMath">
                  <p:embed/>
                </p:oleObj>
              </mc:Choice>
              <mc:Fallback>
                <p:oleObj name="AxMath" r:id="rId58" imgW="4440555" imgH="450215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180783" y="42327195"/>
                        <a:ext cx="8245475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18195290" y="31223585"/>
          <a:ext cx="11491595" cy="217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AxMath" r:id="rId60" imgW="4641215" imgH="902335" progId="Equation.AxMath">
                  <p:embed/>
                </p:oleObj>
              </mc:Choice>
              <mc:Fallback>
                <p:oleObj name="AxMath" r:id="rId60" imgW="4641215" imgH="902335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18195290" y="31223585"/>
                        <a:ext cx="11491595" cy="2174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11290618" y="41138158"/>
          <a:ext cx="1674495" cy="50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AxMath" r:id="rId62" imgW="734695" imgH="227330" progId="Equation.AxMath">
                  <p:embed/>
                </p:oleObj>
              </mc:Choice>
              <mc:Fallback>
                <p:oleObj name="AxMath" r:id="rId62" imgW="734695" imgH="227330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1290618" y="41138158"/>
                        <a:ext cx="1674495" cy="504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9903143" y="42565955"/>
          <a:ext cx="383603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AxMath" r:id="rId64" imgW="2065655" imgH="249555" progId="Equation.AxMath">
                  <p:embed/>
                </p:oleObj>
              </mc:Choice>
              <mc:Fallback>
                <p:oleObj name="AxMath" r:id="rId64" imgW="2065655" imgH="249555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9903143" y="42565955"/>
                        <a:ext cx="3836035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17722850" y="35377755"/>
          <a:ext cx="9304655" cy="820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AxMath" r:id="rId66" imgW="3757930" imgH="340360" progId="Equation.AxMath">
                  <p:embed/>
                </p:oleObj>
              </mc:Choice>
              <mc:Fallback>
                <p:oleObj name="AxMath" r:id="rId66" imgW="3757930" imgH="340360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17722850" y="35377755"/>
                        <a:ext cx="9304655" cy="820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17703165" y="37217350"/>
          <a:ext cx="9344025" cy="820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AxMath" r:id="rId68" imgW="3773805" imgH="340360" progId="Equation.AxMath">
                  <p:embed/>
                </p:oleObj>
              </mc:Choice>
              <mc:Fallback>
                <p:oleObj name="AxMath" r:id="rId68" imgW="3773805" imgH="340360" progId="Equation.AxMath">
                  <p:embed/>
                  <p:pic>
                    <p:nvPicPr>
                      <p:cNvPr id="0" name="图片 1043"/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17703165" y="37217350"/>
                        <a:ext cx="9344025" cy="820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Rounded Rectangle 443"/>
          <p:cNvSpPr/>
          <p:nvPr/>
        </p:nvSpPr>
        <p:spPr>
          <a:xfrm>
            <a:off x="23072090" y="37066855"/>
            <a:ext cx="3955415" cy="1121410"/>
          </a:xfrm>
          <a:prstGeom prst="roundRect">
            <a:avLst>
              <a:gd name="adj" fmla="val 20420"/>
            </a:avLst>
          </a:prstGeom>
          <a:solidFill>
            <a:srgbClr val="FF0000">
              <a:alpha val="5000"/>
            </a:srgb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445"/>
          <p:cNvSpPr txBox="1"/>
          <p:nvPr/>
        </p:nvSpPr>
        <p:spPr>
          <a:xfrm>
            <a:off x="28606750" y="36866195"/>
            <a:ext cx="4251325" cy="1322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lncentive function: </a:t>
            </a:r>
            <a:r>
              <a:rPr lang="en-US" altLang="zh-CN" sz="3200" b="1" dirty="0">
                <a:solidFill>
                  <a:srgbClr val="C00000"/>
                </a:solidFill>
              </a:rPr>
              <a:t>balance exploration and exploitation trade-off</a:t>
            </a:r>
            <a:endParaRPr lang="en-US" altLang="zh-CN" sz="3200" b="1" dirty="0">
              <a:solidFill>
                <a:srgbClr val="C00000"/>
              </a:solidFill>
            </a:endParaRPr>
          </a:p>
        </p:txBody>
      </p:sp>
      <p:sp>
        <p:nvSpPr>
          <p:cNvPr id="54" name="Right Arrow 444"/>
          <p:cNvSpPr/>
          <p:nvPr/>
        </p:nvSpPr>
        <p:spPr>
          <a:xfrm>
            <a:off x="27500116" y="37353047"/>
            <a:ext cx="885132" cy="41028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图片 65" descr="neurIPS-og-ZMhUvg.tmp_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3641705" y="42242740"/>
            <a:ext cx="2767330" cy="1452880"/>
          </a:xfrm>
          <a:prstGeom prst="rect">
            <a:avLst/>
          </a:prstGeom>
        </p:spPr>
      </p:pic>
      <p:sp>
        <p:nvSpPr>
          <p:cNvPr id="72" name="Rounded Rectangle 190"/>
          <p:cNvSpPr/>
          <p:nvPr/>
        </p:nvSpPr>
        <p:spPr>
          <a:xfrm>
            <a:off x="16763069" y="38615489"/>
            <a:ext cx="15490924" cy="82073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/>
              <a:t>Experiment Results</a:t>
            </a:r>
            <a:endParaRPr lang="en-US" sz="5600" b="1" dirty="0"/>
          </a:p>
        </p:txBody>
      </p:sp>
      <p:pic>
        <p:nvPicPr>
          <p:cNvPr id="74" name="图片 73" descr="figure2a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6763365" y="39536370"/>
            <a:ext cx="5120640" cy="3840480"/>
          </a:xfrm>
          <a:prstGeom prst="rect">
            <a:avLst/>
          </a:prstGeom>
        </p:spPr>
      </p:pic>
      <p:pic>
        <p:nvPicPr>
          <p:cNvPr id="75" name="图片 74" descr="figure2b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418675" y="39660830"/>
            <a:ext cx="5140960" cy="3855720"/>
          </a:xfrm>
          <a:prstGeom prst="rect">
            <a:avLst/>
          </a:prstGeom>
        </p:spPr>
      </p:pic>
      <p:pic>
        <p:nvPicPr>
          <p:cNvPr id="82" name="图片 81" descr="figure2c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7610435" y="39676070"/>
            <a:ext cx="5120640" cy="3840480"/>
          </a:xfrm>
          <a:prstGeom prst="rect">
            <a:avLst/>
          </a:prstGeom>
        </p:spPr>
      </p:pic>
      <p:sp>
        <p:nvSpPr>
          <p:cNvPr id="83" name="TextBox 445"/>
          <p:cNvSpPr txBox="1"/>
          <p:nvPr/>
        </p:nvSpPr>
        <p:spPr>
          <a:xfrm>
            <a:off x="17694275" y="43197780"/>
            <a:ext cx="4251325" cy="803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（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a) Average return</a:t>
            </a:r>
            <a:endParaRPr lang="en-US" altLang="zh-CN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445"/>
              <p:cNvSpPr txBox="1"/>
              <p:nvPr/>
            </p:nvSpPr>
            <p:spPr>
              <a:xfrm>
                <a:off x="23359110" y="43197780"/>
                <a:ext cx="4251325" cy="8039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（</a:t>
                </a:r>
                <a:r>
                  <a:rPr lang="en-US" altLang="zh-CN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b) </a:t>
                </a:r>
                <a:r>
                  <a:rPr lang="en-US" sz="3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3200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acc>
                              <m:accPr>
                                <m:ctrlPr>
                                  <a:rPr lang="en-US" sz="3200" b="0" i="1" smtClean="0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0" i="1" smtClean="0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</m:t>
                            </m:r>
                            <m:r>
                              <a:rPr lang="en-US" sz="3200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3200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sz="3200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</m:t>
                            </m:r>
                            <m:r>
                              <a:rPr lang="en-US" sz="3200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3200" i="1" smtClean="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32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4" name="TextBox 4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9110" y="43197780"/>
                <a:ext cx="4251325" cy="803910"/>
              </a:xfrm>
              <a:prstGeom prst="rect">
                <a:avLst/>
              </a:prstGeom>
              <a:blipFill rotWithShape="1"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445"/>
          <p:cNvSpPr txBox="1"/>
          <p:nvPr/>
        </p:nvSpPr>
        <p:spPr>
          <a:xfrm>
            <a:off x="28282265" y="43197780"/>
            <a:ext cx="4251325" cy="803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（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Execution time</a:t>
            </a:r>
            <a:endParaRPr lang="en-US" altLang="zh-CN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89" name="Group 580"/>
          <p:cNvGrpSpPr/>
          <p:nvPr/>
        </p:nvGrpSpPr>
        <p:grpSpPr>
          <a:xfrm>
            <a:off x="9631994" y="3188792"/>
            <a:ext cx="6205550" cy="867729"/>
            <a:chOff x="17358768" y="19060623"/>
            <a:chExt cx="6205550" cy="867729"/>
          </a:xfrm>
        </p:grpSpPr>
        <p:sp>
          <p:nvSpPr>
            <p:cNvPr id="92" name="TextBox 584"/>
            <p:cNvSpPr txBox="1"/>
            <p:nvPr/>
          </p:nvSpPr>
          <p:spPr>
            <a:xfrm>
              <a:off x="17358768" y="19343577"/>
              <a:ext cx="18473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3200" b="1" dirty="0"/>
            </a:p>
          </p:txBody>
        </p:sp>
        <p:sp>
          <p:nvSpPr>
            <p:cNvPr id="93" name="TextBox 582"/>
            <p:cNvSpPr txBox="1"/>
            <p:nvPr/>
          </p:nvSpPr>
          <p:spPr>
            <a:xfrm>
              <a:off x="19312358" y="19060623"/>
              <a:ext cx="425196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2"/>
                  </a:solidFill>
                </a:rPr>
                <a:t>Find a PhD Position</a:t>
              </a:r>
              <a:endParaRPr lang="en-US" sz="4000" b="1" dirty="0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3394</Words>
  <Application>WPS 演示</Application>
  <PresentationFormat>自定义</PresentationFormat>
  <Paragraphs>144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17</vt:i4>
      </vt:variant>
      <vt:variant>
        <vt:lpstr>幻灯片标题</vt:lpstr>
      </vt:variant>
      <vt:variant>
        <vt:i4>1</vt:i4>
      </vt:variant>
    </vt:vector>
  </HeadingPairs>
  <TitlesOfParts>
    <vt:vector size="39" baseType="lpstr">
      <vt:lpstr>Arial</vt:lpstr>
      <vt:lpstr>宋体</vt:lpstr>
      <vt:lpstr>Wingdings</vt:lpstr>
      <vt:lpstr>Arial</vt:lpstr>
      <vt:lpstr>Calibri</vt:lpstr>
      <vt:lpstr>Calibri</vt:lpstr>
      <vt:lpstr>Bradley Hand</vt:lpstr>
      <vt:lpstr>Bradley Hand ITC</vt:lpstr>
      <vt:lpstr>Cambria Math</vt:lpstr>
      <vt:lpstr>Times New Roman</vt:lpstr>
      <vt:lpstr>Menlo</vt:lpstr>
      <vt:lpstr>CMSSBX10</vt:lpstr>
      <vt:lpstr>CMSS10</vt:lpstr>
      <vt:lpstr>等线</vt:lpstr>
      <vt:lpstr>Segoe Print</vt:lpstr>
      <vt:lpstr>微软雅黑</vt:lpstr>
      <vt:lpstr>Arial Unicode MS</vt:lpstr>
      <vt:lpstr>Calibri Light</vt:lpstr>
      <vt:lpstr>华文中宋</vt:lpstr>
      <vt:lpstr>华文仿宋</vt:lpstr>
      <vt:lpstr>Office 2013 - 2022 Theme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Qualcomm </dc:title>
  <dc:creator>Zhu Jiacheng</dc:creator>
  <cp:lastModifiedBy>王文彬</cp:lastModifiedBy>
  <cp:revision>515</cp:revision>
  <cp:lastPrinted>2022-11-16T04:26:00Z</cp:lastPrinted>
  <dcterms:created xsi:type="dcterms:W3CDTF">2022-05-27T23:47:00Z</dcterms:created>
  <dcterms:modified xsi:type="dcterms:W3CDTF">2025-11-30T12:27:25Z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AE7CBC101A91492499A928E091F7C10E_13</vt:lpwstr>
  </property>
  <property fmtid="{D5CDD505-2E9C-101B-9397-08002B2CF9AE}" pid="3" name="KSOProductBuildVer">
    <vt:lpwstr>2052-12.1.0.23125</vt:lpwstr>
  </property>
</Properties>
</file>